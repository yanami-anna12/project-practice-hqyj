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15 秒。一句话说清做什么：把调度员的经验固化成规则，把排车从手工劳动变成选方案。
金句：「人做决策，机器做计算。」说完停一秒。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秒。三个模块分别是「问题规模」「方案产出」「工程可信度」。
重点念清 40 台车、16 门店、279 项验证。
收尾句：人做决策，机器做计算。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秒。先讲约束从哪来（需求文档 1.4 归纳的 8 条），再讲为什么互相冲突。
关键对比：2290 vs 800 —— 一趟车物理上装不下。
这段为第 7 页的「拆单」问题埋线。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秒。讲清楚技术栈与三阶段求解的分工：启发式保证有解、CP-SAT 负责优化、四套方案给人选。
强调「硬约束绝不交给 LLM」——这是设计原则，也是风险控制。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秒。这是全场最重要的一页 —— 三个真实问题，讲的时候不要心虚。
第一个问题（拆单）有真实数据支撑：25% → 99.8%。
讲完每个问题时停一拍，让听众消化。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秒。用一条流水线把「从数据到下发」讲清楚，节点名称对应代码里的真实节点。
重点说两个工程细节：下发幂等、异常重排有次数上限。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秒。这一页只讲一个判断：边界情况交给规则，不交给 AI。
举三个真实例子说明规则在哪一层拦住。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秒。验证要靠可重复执行的脚本说话。念准 279 这个数字和 0 条控制台错误。
强调「跑第二遍不会失败」——这是幂等性的证据。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秒。这一页要主动讲，不要等老师问。9 大模块 6 个完整、3 个部分完成。
说完「编造的监控数据比没有监控更危险」，停一秒。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秒。快速指一下分层，不要逐条念。重点说 28 张表和第 4 层是三阶段求解器。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秒。这一页是预备问答，挑最可能被问的四个讲。
如果时间紧，只讲第 1 条和第 4 条。
回答时先给结论，再给依据，不要绕。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15 秒。念完定位句，停两秒，然后致谢。
不要急着关页面 —— 让老师看清这三个数字。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-rail"/>
          <p:cNvSpPr/>
          <p:nvPr/>
        </p:nvSpPr>
        <p:spPr>
          <a:xfrm>
            <a:off x="685800" y="889000"/>
            <a:ext cx="177800" cy="38100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01-code"/>
          <p:cNvSpPr/>
          <p:nvPr/>
        </p:nvSpPr>
        <p:spPr>
          <a:xfrm>
            <a:off x="1117600" y="6096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 / VEHICLE DISPATCH AGENT</a:t>
            </a:r>
            <a:endParaRPr lang="en-US" sz="1000" dirty="0"/>
          </a:p>
        </p:txBody>
      </p:sp>
      <p:sp>
        <p:nvSpPr>
          <p:cNvPr id="4" name="p01-title"/>
          <p:cNvSpPr/>
          <p:nvPr/>
        </p:nvSpPr>
        <p:spPr>
          <a:xfrm>
            <a:off x="1092200" y="10922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车辆智能调度 Agent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把调度经验变成规则</a:t>
            </a:r>
            <a:endParaRPr lang="en-US" sz="4600" dirty="0"/>
          </a:p>
        </p:txBody>
      </p:sp>
      <p:sp>
        <p:nvSpPr>
          <p:cNvPr id="5" name="p01-subtitle"/>
          <p:cNvSpPr/>
          <p:nvPr/>
        </p:nvSpPr>
        <p:spPr>
          <a:xfrm>
            <a:off x="1143000" y="3200400"/>
            <a:ext cx="6096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每天门店货量报上来以后，算出一张排车表：哪台车、跑几趟、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上午下午分别送哪些门店、每趟装多少货，交给调度员确认下发。</a:t>
            </a:r>
            <a:endParaRPr lang="en-US" sz="1400" dirty="0"/>
          </a:p>
        </p:txBody>
      </p:sp>
      <p:sp>
        <p:nvSpPr>
          <p:cNvPr id="6" name="p01-meta"/>
          <p:cNvSpPr/>
          <p:nvPr/>
        </p:nvSpPr>
        <p:spPr>
          <a:xfrm>
            <a:off x="1143000" y="4267200"/>
            <a:ext cx="584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LangGraph · OR-Tools CP-SAT · Vue 3</a:t>
            </a:r>
            <a:endParaRPr lang="en-US" sz="1000" dirty="0"/>
          </a:p>
        </p:txBody>
      </p:sp>
      <p:sp>
        <p:nvSpPr>
          <p:cNvPr id="7" name="p01-node-1"/>
          <p:cNvSpPr/>
          <p:nvPr/>
        </p:nvSpPr>
        <p:spPr>
          <a:xfrm>
            <a:off x="8077200" y="1219200"/>
            <a:ext cx="11684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02224"/>
            </a:solidFill>
            <a:prstDash val="solid"/>
          </a:ln>
        </p:spPr>
      </p:sp>
      <p:sp>
        <p:nvSpPr>
          <p:cNvPr id="8" name="p01-node-1-tag"/>
          <p:cNvSpPr/>
          <p:nvPr/>
        </p:nvSpPr>
        <p:spPr>
          <a:xfrm>
            <a:off x="8077200" y="1219200"/>
            <a:ext cx="1168400" cy="1270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9" name="p01-node-1-text"/>
          <p:cNvSpPr/>
          <p:nvPr/>
        </p:nvSpPr>
        <p:spPr>
          <a:xfrm>
            <a:off x="8178800" y="1422400"/>
            <a:ext cx="96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货量上报</a:t>
            </a:r>
            <a:endParaRPr lang="en-US" sz="1200" dirty="0"/>
          </a:p>
        </p:txBody>
      </p:sp>
      <p:sp>
        <p:nvSpPr>
          <p:cNvPr id="10" name="p01-node-2"/>
          <p:cNvSpPr/>
          <p:nvPr/>
        </p:nvSpPr>
        <p:spPr>
          <a:xfrm>
            <a:off x="9220200" y="2159000"/>
            <a:ext cx="1320800" cy="787400"/>
          </a:xfrm>
          <a:prstGeom prst="rect">
            <a:avLst/>
          </a:prstGeom>
          <a:solidFill>
            <a:srgbClr val="202224"/>
          </a:solidFill>
          <a:ln w="25400">
            <a:solidFill>
              <a:srgbClr val="202224"/>
            </a:solidFill>
            <a:prstDash val="solid"/>
          </a:ln>
        </p:spPr>
      </p:sp>
      <p:sp>
        <p:nvSpPr>
          <p:cNvPr id="11" name="p01-node-2-text"/>
          <p:cNvSpPr/>
          <p:nvPr/>
        </p:nvSpPr>
        <p:spPr>
          <a:xfrm>
            <a:off x="9347200" y="2311400"/>
            <a:ext cx="1066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三阶段求解</a:t>
            </a:r>
            <a:endParaRPr lang="en-US" sz="1200" dirty="0"/>
          </a:p>
        </p:txBody>
      </p:sp>
      <p:sp>
        <p:nvSpPr>
          <p:cNvPr id="12" name="p01-node-3"/>
          <p:cNvSpPr/>
          <p:nvPr/>
        </p:nvSpPr>
        <p:spPr>
          <a:xfrm>
            <a:off x="10337800" y="3149600"/>
            <a:ext cx="1320800" cy="812800"/>
          </a:xfrm>
          <a:prstGeom prst="rect">
            <a:avLst/>
          </a:prstGeom>
          <a:solidFill>
            <a:srgbClr val="FFD400"/>
          </a:solidFill>
          <a:ln w="25400">
            <a:solidFill>
              <a:srgbClr val="202224"/>
            </a:solidFill>
            <a:prstDash val="solid"/>
          </a:ln>
        </p:spPr>
      </p:sp>
      <p:sp>
        <p:nvSpPr>
          <p:cNvPr id="13" name="p01-node-3-text"/>
          <p:cNvSpPr/>
          <p:nvPr/>
        </p:nvSpPr>
        <p:spPr>
          <a:xfrm>
            <a:off x="10464800" y="3302000"/>
            <a:ext cx="106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确认下发</a:t>
            </a:r>
            <a:endParaRPr lang="en-US" sz="1200" dirty="0"/>
          </a:p>
        </p:txBody>
      </p:sp>
      <p:sp>
        <p:nvSpPr>
          <p:cNvPr id="14" name="p01-line-1"/>
          <p:cNvSpPr/>
          <p:nvPr/>
        </p:nvSpPr>
        <p:spPr>
          <a:xfrm>
            <a:off x="8890000" y="1930400"/>
            <a:ext cx="0" cy="254000"/>
          </a:xfrm>
          <a:prstGeom prst="line">
            <a:avLst/>
          </a:prstGeom>
          <a:noFill/>
          <a:ln w="38100">
            <a:solidFill>
              <a:srgbClr val="202224"/>
            </a:solidFill>
            <a:prstDash val="solid"/>
          </a:ln>
        </p:spPr>
      </p:sp>
      <p:sp>
        <p:nvSpPr>
          <p:cNvPr id="15" name="p01-line-2"/>
          <p:cNvSpPr/>
          <p:nvPr/>
        </p:nvSpPr>
        <p:spPr>
          <a:xfrm>
            <a:off x="8890000" y="2184400"/>
            <a:ext cx="355600" cy="0"/>
          </a:xfrm>
          <a:prstGeom prst="line">
            <a:avLst/>
          </a:prstGeom>
          <a:noFill/>
          <a:ln w="38100">
            <a:solidFill>
              <a:srgbClr val="202224"/>
            </a:solidFill>
            <a:prstDash val="solid"/>
          </a:ln>
        </p:spPr>
      </p:sp>
      <p:sp>
        <p:nvSpPr>
          <p:cNvPr id="16" name="p01-line-3"/>
          <p:cNvSpPr/>
          <p:nvPr/>
        </p:nvSpPr>
        <p:spPr>
          <a:xfrm>
            <a:off x="9880600" y="2946400"/>
            <a:ext cx="0" cy="228600"/>
          </a:xfrm>
          <a:prstGeom prst="line">
            <a:avLst/>
          </a:prstGeom>
          <a:noFill/>
          <a:ln w="38100">
            <a:solidFill>
              <a:srgbClr val="202224"/>
            </a:solidFill>
            <a:prstDash val="solid"/>
          </a:ln>
        </p:spPr>
      </p:sp>
      <p:sp>
        <p:nvSpPr>
          <p:cNvPr id="17" name="p01-line-4"/>
          <p:cNvSpPr/>
          <p:nvPr/>
        </p:nvSpPr>
        <p:spPr>
          <a:xfrm>
            <a:off x="9880600" y="3175000"/>
            <a:ext cx="482600" cy="0"/>
          </a:xfrm>
          <a:prstGeom prst="line">
            <a:avLst/>
          </a:prstGeom>
          <a:noFill/>
          <a:ln w="38100">
            <a:solidFill>
              <a:srgbClr val="202224"/>
            </a:solidFill>
            <a:prstDash val="solid"/>
          </a:ln>
        </p:spPr>
      </p:sp>
      <p:sp>
        <p:nvSpPr>
          <p:cNvPr id="18" name="p01-pallet"/>
          <p:cNvSpPr/>
          <p:nvPr/>
        </p:nvSpPr>
        <p:spPr>
          <a:xfrm>
            <a:off x="8128000" y="4419600"/>
            <a:ext cx="2997200" cy="66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02224"/>
            </a:solidFill>
            <a:prstDash val="solid"/>
          </a:ln>
        </p:spPr>
      </p:sp>
      <p:sp>
        <p:nvSpPr>
          <p:cNvPr id="19" name="p01-pallet-text"/>
          <p:cNvSpPr/>
          <p:nvPr/>
        </p:nvSpPr>
        <p:spPr>
          <a:xfrm>
            <a:off x="8305800" y="4597400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人做决策 · 机器做计算</a:t>
            </a:r>
            <a:endParaRPr lang="en-US" sz="1300" dirty="0"/>
          </a:p>
        </p:txBody>
      </p:sp>
      <p:sp>
        <p:nvSpPr>
          <p:cNvPr id="20" name="p01-pallet-base"/>
          <p:cNvSpPr/>
          <p:nvPr/>
        </p:nvSpPr>
        <p:spPr>
          <a:xfrm>
            <a:off x="8001000" y="5130800"/>
            <a:ext cx="3251200" cy="1270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1" name="p01-foot-1"/>
          <p:cNvSpPr/>
          <p:nvPr/>
        </p:nvSpPr>
        <p:spPr>
          <a:xfrm>
            <a:off x="8204200" y="5257800"/>
            <a:ext cx="457200" cy="1524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2" name="p01-foot-2"/>
          <p:cNvSpPr/>
          <p:nvPr/>
        </p:nvSpPr>
        <p:spPr>
          <a:xfrm>
            <a:off x="9398000" y="5257800"/>
            <a:ext cx="457200" cy="1524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3" name="p01-foot-3"/>
          <p:cNvSpPr/>
          <p:nvPr/>
        </p:nvSpPr>
        <p:spPr>
          <a:xfrm>
            <a:off x="10591800" y="5257800"/>
            <a:ext cx="457200" cy="1524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4" name="p01-claim-band"/>
          <p:cNvSpPr/>
          <p:nvPr/>
        </p:nvSpPr>
        <p:spPr>
          <a:xfrm>
            <a:off x="685800" y="5740400"/>
            <a:ext cx="10820400" cy="7366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5" name="p01-claim-label"/>
          <p:cNvSpPr/>
          <p:nvPr/>
        </p:nvSpPr>
        <p:spPr>
          <a:xfrm>
            <a:off x="939800" y="59182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900" dirty="0"/>
          </a:p>
        </p:txBody>
      </p:sp>
      <p:sp>
        <p:nvSpPr>
          <p:cNvPr id="26" name="p01-claim"/>
          <p:cNvSpPr/>
          <p:nvPr/>
        </p:nvSpPr>
        <p:spPr>
          <a:xfrm>
            <a:off x="2692400" y="5867400"/>
            <a:ext cx="848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把调度经验做成可执行、可解释、可追溯的规则。</a:t>
            </a:r>
            <a:endParaRPr lang="en-US" sz="1500" dirty="0"/>
          </a:p>
        </p:txBody>
      </p:sp>
      <p:sp>
        <p:nvSpPr>
          <p:cNvPr id="27" name="p01-page"/>
          <p:cNvSpPr/>
          <p:nvPr/>
        </p:nvSpPr>
        <p:spPr>
          <a:xfrm>
            <a:off x="11074400" y="3810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-rail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02-code"/>
          <p:cNvSpPr/>
          <p:nvPr/>
        </p:nvSpPr>
        <p:spPr>
          <a:xfrm>
            <a:off x="685800" y="4318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项目一句话</a:t>
            </a:r>
            <a:endParaRPr lang="en-US" sz="1000" dirty="0"/>
          </a:p>
        </p:txBody>
      </p:sp>
      <p:sp>
        <p:nvSpPr>
          <p:cNvPr id="4" name="p02-title"/>
          <p:cNvSpPr/>
          <p:nvPr/>
        </p:nvSpPr>
        <p:spPr>
          <a:xfrm>
            <a:off x="685800" y="7366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把排车从手工劳动，变成「选方案」</a:t>
            </a:r>
            <a:endParaRPr lang="en-US" sz="2600" dirty="0"/>
          </a:p>
        </p:txBody>
      </p:sp>
      <p:sp>
        <p:nvSpPr>
          <p:cNvPr id="5" name="p02-m1"/>
          <p:cNvSpPr/>
          <p:nvPr/>
        </p:nvSpPr>
        <p:spPr>
          <a:xfrm>
            <a:off x="685800" y="1549400"/>
            <a:ext cx="3403600" cy="309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6" name="p02-m1-head"/>
          <p:cNvSpPr/>
          <p:nvPr/>
        </p:nvSpPr>
        <p:spPr>
          <a:xfrm>
            <a:off x="685800" y="1549400"/>
            <a:ext cx="3403600" cy="3302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7" name="p02-m1-label"/>
          <p:cNvSpPr/>
          <p:nvPr/>
        </p:nvSpPr>
        <p:spPr>
          <a:xfrm>
            <a:off x="838200" y="1600200"/>
            <a:ext cx="309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问题规模 / SCALE</a:t>
            </a:r>
            <a:endParaRPr lang="en-US" sz="900" dirty="0"/>
          </a:p>
        </p:txBody>
      </p:sp>
      <p:sp>
        <p:nvSpPr>
          <p:cNvPr id="8" name="p02-m1-metric"/>
          <p:cNvSpPr/>
          <p:nvPr/>
        </p:nvSpPr>
        <p:spPr>
          <a:xfrm>
            <a:off x="838200" y="2006600"/>
            <a:ext cx="3098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台</a:t>
            </a:r>
            <a:endParaRPr lang="en-US" sz="4000" dirty="0"/>
          </a:p>
        </p:txBody>
      </p:sp>
      <p:sp>
        <p:nvSpPr>
          <p:cNvPr id="9" name="p02-m1-unit"/>
          <p:cNvSpPr/>
          <p:nvPr/>
        </p:nvSpPr>
        <p:spPr>
          <a:xfrm>
            <a:off x="838200" y="2667000"/>
            <a:ext cx="309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四米二 28 · 大包 3 · 小包 9</a:t>
            </a:r>
            <a:endParaRPr lang="en-US" sz="1200" dirty="0"/>
          </a:p>
        </p:txBody>
      </p:sp>
      <p:sp>
        <p:nvSpPr>
          <p:cNvPr id="10" name="p02-m1-note"/>
          <p:cNvSpPr/>
          <p:nvPr/>
        </p:nvSpPr>
        <p:spPr>
          <a:xfrm>
            <a:off x="838200" y="3048000"/>
            <a:ext cx="3098800" cy="584200"/>
          </a:xfrm>
          <a:prstGeom prst="rect">
            <a:avLst/>
          </a:prstGeom>
          <a:solidFill>
            <a:srgbClr val="FFF3A6"/>
          </a:solidFill>
          <a:ln w="12700">
            <a:solidFill>
              <a:srgbClr val="FFF3A6"/>
            </a:solidFill>
            <a:prstDash val="solid"/>
          </a:ln>
        </p:spPr>
      </p:sp>
      <p:sp>
        <p:nvSpPr>
          <p:cNvPr id="11" name="p02-m1-note-text"/>
          <p:cNvSpPr/>
          <p:nvPr/>
        </p:nvSpPr>
        <p:spPr>
          <a:xfrm>
            <a:off x="965200" y="3149600"/>
            <a:ext cx="2844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个门店 · 5 条线路 · 19 条映射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门店与线路是多对多关系</a:t>
            </a:r>
            <a:endParaRPr lang="en-US" sz="900" dirty="0"/>
          </a:p>
        </p:txBody>
      </p:sp>
      <p:sp>
        <p:nvSpPr>
          <p:cNvPr id="12" name="p02-m1-foot"/>
          <p:cNvSpPr/>
          <p:nvPr/>
        </p:nvSpPr>
        <p:spPr>
          <a:xfrm>
            <a:off x="838200" y="3810000"/>
            <a:ext cx="309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条业务约束互相顶：装载量、上下午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时段、地形通行、线路归属同时生效。</a:t>
            </a:r>
            <a:endParaRPr lang="en-US" sz="1000" dirty="0"/>
          </a:p>
        </p:txBody>
      </p:sp>
      <p:sp>
        <p:nvSpPr>
          <p:cNvPr id="13" name="p02-arrow-1"/>
          <p:cNvSpPr/>
          <p:nvPr/>
        </p:nvSpPr>
        <p:spPr>
          <a:xfrm>
            <a:off x="4140200" y="2946400"/>
            <a:ext cx="177800" cy="3048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4" name="p02-m2"/>
          <p:cNvSpPr/>
          <p:nvPr/>
        </p:nvSpPr>
        <p:spPr>
          <a:xfrm>
            <a:off x="4419600" y="1549400"/>
            <a:ext cx="3403600" cy="309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5" name="p02-m2-head"/>
          <p:cNvSpPr/>
          <p:nvPr/>
        </p:nvSpPr>
        <p:spPr>
          <a:xfrm>
            <a:off x="4419600" y="1549400"/>
            <a:ext cx="3403600" cy="3302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6" name="p02-m2-label"/>
          <p:cNvSpPr/>
          <p:nvPr/>
        </p:nvSpPr>
        <p:spPr>
          <a:xfrm>
            <a:off x="4572000" y="1600200"/>
            <a:ext cx="309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方案产出 / OUTPUT</a:t>
            </a:r>
            <a:endParaRPr lang="en-US" sz="900" dirty="0"/>
          </a:p>
        </p:txBody>
      </p:sp>
      <p:sp>
        <p:nvSpPr>
          <p:cNvPr id="17" name="p02-m2-metric"/>
          <p:cNvSpPr/>
          <p:nvPr/>
        </p:nvSpPr>
        <p:spPr>
          <a:xfrm>
            <a:off x="4572000" y="2006600"/>
            <a:ext cx="3098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套</a:t>
            </a:r>
            <a:endParaRPr lang="en-US" sz="4000" dirty="0"/>
          </a:p>
        </p:txBody>
      </p:sp>
      <p:sp>
        <p:nvSpPr>
          <p:cNvPr id="18" name="p02-m2-unit"/>
          <p:cNvSpPr/>
          <p:nvPr/>
        </p:nvSpPr>
        <p:spPr>
          <a:xfrm>
            <a:off x="4572000" y="2667000"/>
            <a:ext cx="309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四米二优先 · B 成本最低</a:t>
            </a:r>
            <a:endParaRPr lang="en-US" sz="1200" dirty="0"/>
          </a:p>
        </p:txBody>
      </p:sp>
      <p:sp>
        <p:nvSpPr>
          <p:cNvPr id="19" name="p02-m2-note"/>
          <p:cNvSpPr/>
          <p:nvPr/>
        </p:nvSpPr>
        <p:spPr>
          <a:xfrm>
            <a:off x="4572000" y="3048000"/>
            <a:ext cx="3098800" cy="584200"/>
          </a:xfrm>
          <a:prstGeom prst="rect">
            <a:avLst/>
          </a:prstGeom>
          <a:solidFill>
            <a:srgbClr val="FFF3A6"/>
          </a:solidFill>
          <a:ln w="12700">
            <a:solidFill>
              <a:srgbClr val="FFF3A6"/>
            </a:solidFill>
            <a:prstDash val="solid"/>
          </a:ln>
        </p:spPr>
      </p:sp>
      <p:sp>
        <p:nvSpPr>
          <p:cNvPr id="20" name="p02-m2-note-text"/>
          <p:cNvSpPr/>
          <p:nvPr/>
        </p:nvSpPr>
        <p:spPr>
          <a:xfrm>
            <a:off x="4699000" y="3149600"/>
            <a:ext cx="2844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每套带评分与推荐理由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人工确认后才下发</a:t>
            </a:r>
            <a:endParaRPr lang="en-US" sz="900" dirty="0"/>
          </a:p>
        </p:txBody>
      </p:sp>
      <p:sp>
        <p:nvSpPr>
          <p:cNvPr id="21" name="p02-m2-foot"/>
          <p:cNvSpPr/>
          <p:nvPr/>
        </p:nvSpPr>
        <p:spPr>
          <a:xfrm>
            <a:off x="4572000" y="3810000"/>
            <a:ext cx="309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大包小包保障 · D 装载率均衡。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四套并排比选，调度员做决策。</a:t>
            </a:r>
            <a:endParaRPr lang="en-US" sz="1000" dirty="0"/>
          </a:p>
        </p:txBody>
      </p:sp>
      <p:sp>
        <p:nvSpPr>
          <p:cNvPr id="22" name="p02-arrow-2"/>
          <p:cNvSpPr/>
          <p:nvPr/>
        </p:nvSpPr>
        <p:spPr>
          <a:xfrm>
            <a:off x="7874000" y="2946400"/>
            <a:ext cx="177800" cy="3048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3" name="p02-m3"/>
          <p:cNvSpPr/>
          <p:nvPr/>
        </p:nvSpPr>
        <p:spPr>
          <a:xfrm>
            <a:off x="8153400" y="1549400"/>
            <a:ext cx="3352800" cy="3098800"/>
          </a:xfrm>
          <a:prstGeom prst="rect">
            <a:avLst/>
          </a:prstGeom>
          <a:solidFill>
            <a:srgbClr val="202224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24" name="p02-m3-head"/>
          <p:cNvSpPr/>
          <p:nvPr/>
        </p:nvSpPr>
        <p:spPr>
          <a:xfrm>
            <a:off x="8153400" y="1549400"/>
            <a:ext cx="3352800" cy="330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5" name="p02-m3-label"/>
          <p:cNvSpPr/>
          <p:nvPr/>
        </p:nvSpPr>
        <p:spPr>
          <a:xfrm>
            <a:off x="8305800" y="16002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工程可信度 / VERIFIED</a:t>
            </a:r>
            <a:endParaRPr lang="en-US" sz="900" dirty="0"/>
          </a:p>
        </p:txBody>
      </p:sp>
      <p:sp>
        <p:nvSpPr>
          <p:cNvPr id="26" name="p02-m3-metric"/>
          <p:cNvSpPr/>
          <p:nvPr/>
        </p:nvSpPr>
        <p:spPr>
          <a:xfrm>
            <a:off x="8305800" y="20066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279 项</a:t>
            </a:r>
            <a:endParaRPr lang="en-US" sz="4000" dirty="0"/>
          </a:p>
        </p:txBody>
      </p:sp>
      <p:sp>
        <p:nvSpPr>
          <p:cNvPr id="27" name="p02-m3-unit"/>
          <p:cNvSpPr/>
          <p:nvPr/>
        </p:nvSpPr>
        <p:spPr>
          <a:xfrm>
            <a:off x="8305800" y="26670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173 + 前端 106</a:t>
            </a:r>
            <a:endParaRPr lang="en-US" sz="1200" dirty="0"/>
          </a:p>
        </p:txBody>
      </p:sp>
      <p:sp>
        <p:nvSpPr>
          <p:cNvPr id="28" name="p02-m3-note"/>
          <p:cNvSpPr/>
          <p:nvPr/>
        </p:nvSpPr>
        <p:spPr>
          <a:xfrm>
            <a:off x="8305800" y="3048000"/>
            <a:ext cx="3048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02-m3-note-text"/>
          <p:cNvSpPr/>
          <p:nvPr/>
        </p:nvSpPr>
        <p:spPr>
          <a:xfrm>
            <a:off x="8432800" y="31496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全部可重复执行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浏览器控制台错误 0 条</a:t>
            </a:r>
            <a:endParaRPr lang="en-US" sz="900" dirty="0"/>
          </a:p>
        </p:txBody>
      </p:sp>
      <p:sp>
        <p:nvSpPr>
          <p:cNvPr id="30" name="p02-m3-foot"/>
          <p:cNvSpPr/>
          <p:nvPr/>
        </p:nvSpPr>
        <p:spPr>
          <a:xfrm>
            <a:off x="8305800" y="3810000"/>
            <a:ext cx="304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大模块：6 个完整落地、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EB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个部分完成并如实标注。</a:t>
            </a:r>
            <a:endParaRPr lang="en-US" sz="1000" dirty="0"/>
          </a:p>
        </p:txBody>
      </p:sp>
      <p:sp>
        <p:nvSpPr>
          <p:cNvPr id="31" name="p02-gate"/>
          <p:cNvSpPr/>
          <p:nvPr/>
        </p:nvSpPr>
        <p:spPr>
          <a:xfrm>
            <a:off x="685800" y="5029200"/>
            <a:ext cx="10820400" cy="711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2" name="p02-gate-label"/>
          <p:cNvSpPr/>
          <p:nvPr/>
        </p:nvSpPr>
        <p:spPr>
          <a:xfrm>
            <a:off x="939800" y="52070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900" dirty="0"/>
          </a:p>
        </p:txBody>
      </p:sp>
      <p:sp>
        <p:nvSpPr>
          <p:cNvPr id="33" name="p02-gate-text"/>
          <p:cNvSpPr/>
          <p:nvPr/>
        </p:nvSpPr>
        <p:spPr>
          <a:xfrm>
            <a:off x="2692400" y="5156200"/>
            <a:ext cx="858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把调度员的经验固化成规则，让人做决策、机器做计算。</a:t>
            </a:r>
            <a:endParaRPr lang="en-US" sz="1500" dirty="0"/>
          </a:p>
        </p:txBody>
      </p:sp>
      <p:sp>
        <p:nvSpPr>
          <p:cNvPr id="34" name="p02-source"/>
          <p:cNvSpPr/>
          <p:nvPr/>
        </p:nvSpPr>
        <p:spPr>
          <a:xfrm>
            <a:off x="685800" y="6299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数据来源：需求文档《车辆智能调度 Agent》1.3 现有条件 / 1.4 核心业务约束；本机实测数据</a:t>
            </a:r>
            <a:endParaRPr lang="en-US" sz="800" dirty="0"/>
          </a:p>
        </p:txBody>
      </p:sp>
      <p:sp>
        <p:nvSpPr>
          <p:cNvPr id="35" name="p02-page"/>
          <p:cNvSpPr/>
          <p:nvPr/>
        </p:nvSpPr>
        <p:spPr>
          <a:xfrm>
            <a:off x="11074400" y="62992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-rail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03-code"/>
          <p:cNvSpPr/>
          <p:nvPr/>
        </p:nvSpPr>
        <p:spPr>
          <a:xfrm>
            <a:off x="685800" y="4318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需求与约束</a:t>
            </a:r>
            <a:endParaRPr lang="en-US" sz="1000" dirty="0"/>
          </a:p>
        </p:txBody>
      </p:sp>
      <p:sp>
        <p:nvSpPr>
          <p:cNvPr id="4" name="p03-title"/>
          <p:cNvSpPr/>
          <p:nvPr/>
        </p:nvSpPr>
        <p:spPr>
          <a:xfrm>
            <a:off x="685800" y="7366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八条约束同时生效，人工已经排不动了</a:t>
            </a:r>
            <a:endParaRPr lang="en-US" sz="2600" dirty="0"/>
          </a:p>
        </p:txBody>
      </p:sp>
      <p:sp>
        <p:nvSpPr>
          <p:cNvPr id="5" name="p03-left-panel"/>
          <p:cNvSpPr/>
          <p:nvPr/>
        </p:nvSpPr>
        <p:spPr>
          <a:xfrm>
            <a:off x="685800" y="1498600"/>
            <a:ext cx="3810000" cy="3276600"/>
          </a:xfrm>
          <a:prstGeom prst="rect">
            <a:avLst/>
          </a:prstGeom>
          <a:solidFill>
            <a:srgbClr val="202224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6" name="p03-left-label"/>
          <p:cNvSpPr/>
          <p:nvPr/>
        </p:nvSpPr>
        <p:spPr>
          <a:xfrm>
            <a:off x="914400" y="17018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单店日货量 vs 单车上限</a:t>
            </a:r>
            <a:endParaRPr lang="en-US" sz="900" dirty="0"/>
          </a:p>
        </p:txBody>
      </p:sp>
      <p:sp>
        <p:nvSpPr>
          <p:cNvPr id="7" name="p03-left-metric"/>
          <p:cNvSpPr/>
          <p:nvPr/>
        </p:nvSpPr>
        <p:spPr>
          <a:xfrm>
            <a:off x="914400" y="2006600"/>
            <a:ext cx="335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2290</a:t>
            </a:r>
            <a:endParaRPr lang="en-US" sz="4600" dirty="0"/>
          </a:p>
        </p:txBody>
      </p:sp>
      <p:sp>
        <p:nvSpPr>
          <p:cNvPr id="8" name="p03-left-unit"/>
          <p:cNvSpPr/>
          <p:nvPr/>
        </p:nvSpPr>
        <p:spPr>
          <a:xfrm>
            <a:off x="914400" y="27432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最高单店日货量</a:t>
            </a:r>
            <a:endParaRPr lang="en-US" sz="1200" dirty="0"/>
          </a:p>
        </p:txBody>
      </p:sp>
      <p:sp>
        <p:nvSpPr>
          <p:cNvPr id="9" name="p03-left-div"/>
          <p:cNvSpPr/>
          <p:nvPr/>
        </p:nvSpPr>
        <p:spPr>
          <a:xfrm>
            <a:off x="914400" y="3124200"/>
            <a:ext cx="3352800" cy="0"/>
          </a:xfrm>
          <a:prstGeom prst="line">
            <a:avLst/>
          </a:prstGeom>
          <a:noFill/>
          <a:ln w="10160">
            <a:solidFill>
              <a:srgbClr val="60666A"/>
            </a:solidFill>
            <a:prstDash val="solid"/>
          </a:ln>
        </p:spPr>
      </p:sp>
      <p:sp>
        <p:nvSpPr>
          <p:cNvPr id="10" name="p03-left-metric2"/>
          <p:cNvSpPr/>
          <p:nvPr/>
        </p:nvSpPr>
        <p:spPr>
          <a:xfrm>
            <a:off x="914400" y="3302000"/>
            <a:ext cx="3352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3600" dirty="0"/>
          </a:p>
        </p:txBody>
      </p:sp>
      <p:sp>
        <p:nvSpPr>
          <p:cNvPr id="11" name="p03-left-unit2"/>
          <p:cNvSpPr/>
          <p:nvPr/>
        </p:nvSpPr>
        <p:spPr>
          <a:xfrm>
            <a:off x="914400" y="39116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EB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四米二单车上限</a:t>
            </a:r>
            <a:endParaRPr lang="en-US" sz="1200" dirty="0"/>
          </a:p>
        </p:txBody>
      </p:sp>
      <p:sp>
        <p:nvSpPr>
          <p:cNvPr id="12" name="p03-left-concl"/>
          <p:cNvSpPr/>
          <p:nvPr/>
        </p:nvSpPr>
        <p:spPr>
          <a:xfrm>
            <a:off x="914400" y="4267200"/>
            <a:ext cx="335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差额 1490，一趟车装不完</a:t>
            </a:r>
            <a:endParaRPr lang="en-US" sz="1000" dirty="0"/>
          </a:p>
        </p:txBody>
      </p:sp>
      <p:sp>
        <p:nvSpPr>
          <p:cNvPr id="13" name="p03-tbl-head"/>
          <p:cNvSpPr/>
          <p:nvPr/>
        </p:nvSpPr>
        <p:spPr>
          <a:xfrm>
            <a:off x="4800600" y="1498600"/>
            <a:ext cx="670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现有条件 / 需求文档 1.3</a:t>
            </a:r>
            <a:endParaRPr lang="en-US" sz="900" dirty="0"/>
          </a:p>
        </p:txBody>
      </p:sp>
      <p:graphicFrame>
        <p:nvGraphicFramePr>
          <p:cNvPr id="4" name="p03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803400"/>
          <a:ext cx="6705600" cy="1371600"/>
        </p:xfrm>
        <a:graphic>
          <a:graphicData uri="http://schemas.openxmlformats.org/drawingml/2006/table">
            <a:tbl>
              <a:tblPr/>
              <a:tblGrid>
                <a:gridCol w="1341120"/>
                <a:gridCol w="1207008"/>
                <a:gridCol w="1475232"/>
                <a:gridCol w="1475232"/>
                <a:gridCol w="1207008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最低装载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最高装载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日趟次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四米二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 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03-confl-head"/>
          <p:cNvSpPr/>
          <p:nvPr/>
        </p:nvSpPr>
        <p:spPr>
          <a:xfrm>
            <a:off x="4800600" y="3378200"/>
            <a:ext cx="670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约束之间为什么会互相顶</a:t>
            </a:r>
            <a:endParaRPr lang="en-US" sz="900" dirty="0"/>
          </a:p>
        </p:txBody>
      </p:sp>
      <p:sp>
        <p:nvSpPr>
          <p:cNvPr id="16" name="p03-confl"/>
          <p:cNvSpPr/>
          <p:nvPr/>
        </p:nvSpPr>
        <p:spPr>
          <a:xfrm>
            <a:off x="4800600" y="3683000"/>
            <a:ext cx="67056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想装满一辆四米二 → 把两三个门店拼到一趟；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拼到一起之后 → 可能地形不让过、线路对不上，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或者其中一个是下午店。</a:t>
            </a:r>
            <a:endParaRPr lang="en-US" sz="1300" dirty="0"/>
          </a:p>
        </p:txBody>
      </p:sp>
      <p:sp>
        <p:nvSpPr>
          <p:cNvPr id="17" name="p03-tag-1"/>
          <p:cNvSpPr/>
          <p:nvPr/>
        </p:nvSpPr>
        <p:spPr>
          <a:xfrm>
            <a:off x="4800600" y="4876800"/>
            <a:ext cx="15748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8" name="p03-tag-1-text"/>
          <p:cNvSpPr/>
          <p:nvPr/>
        </p:nvSpPr>
        <p:spPr>
          <a:xfrm>
            <a:off x="4902200" y="492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装载量门槛</a:t>
            </a:r>
            <a:endParaRPr lang="en-US" sz="900" dirty="0"/>
          </a:p>
        </p:txBody>
      </p:sp>
      <p:sp>
        <p:nvSpPr>
          <p:cNvPr id="19" name="p03-tag-2"/>
          <p:cNvSpPr/>
          <p:nvPr/>
        </p:nvSpPr>
        <p:spPr>
          <a:xfrm>
            <a:off x="6477000" y="4876800"/>
            <a:ext cx="15748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0" name="p03-tag-2-text"/>
          <p:cNvSpPr/>
          <p:nvPr/>
        </p:nvSpPr>
        <p:spPr>
          <a:xfrm>
            <a:off x="6578600" y="492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上下午时段</a:t>
            </a:r>
            <a:endParaRPr lang="en-US" sz="900" dirty="0"/>
          </a:p>
        </p:txBody>
      </p:sp>
      <p:sp>
        <p:nvSpPr>
          <p:cNvPr id="21" name="p03-tag-3"/>
          <p:cNvSpPr/>
          <p:nvPr/>
        </p:nvSpPr>
        <p:spPr>
          <a:xfrm>
            <a:off x="8153400" y="4876800"/>
            <a:ext cx="15748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2" name="p03-tag-3-text"/>
          <p:cNvSpPr/>
          <p:nvPr/>
        </p:nvSpPr>
        <p:spPr>
          <a:xfrm>
            <a:off x="8255000" y="492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地形通行</a:t>
            </a:r>
            <a:endParaRPr lang="en-US" sz="900" dirty="0"/>
          </a:p>
        </p:txBody>
      </p:sp>
      <p:sp>
        <p:nvSpPr>
          <p:cNvPr id="23" name="p03-tag-4"/>
          <p:cNvSpPr/>
          <p:nvPr/>
        </p:nvSpPr>
        <p:spPr>
          <a:xfrm>
            <a:off x="9829800" y="4876800"/>
            <a:ext cx="16764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4" name="p03-tag-4-text"/>
          <p:cNvSpPr/>
          <p:nvPr/>
        </p:nvSpPr>
        <p:spPr>
          <a:xfrm>
            <a:off x="9931400" y="4927600"/>
            <a:ext cx="147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线路归属与交界</a:t>
            </a:r>
            <a:endParaRPr lang="en-US" sz="900" dirty="0"/>
          </a:p>
        </p:txBody>
      </p:sp>
      <p:sp>
        <p:nvSpPr>
          <p:cNvPr id="25" name="p03-gate"/>
          <p:cNvSpPr/>
          <p:nvPr/>
        </p:nvSpPr>
        <p:spPr>
          <a:xfrm>
            <a:off x="685800" y="5334000"/>
            <a:ext cx="10820400" cy="6858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6" name="p03-gate-label"/>
          <p:cNvSpPr/>
          <p:nvPr/>
        </p:nvSpPr>
        <p:spPr>
          <a:xfrm>
            <a:off x="939800" y="5511800"/>
            <a:ext cx="190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关键矛盾</a:t>
            </a:r>
            <a:endParaRPr lang="en-US" sz="900" dirty="0"/>
          </a:p>
        </p:txBody>
      </p:sp>
      <p:sp>
        <p:nvSpPr>
          <p:cNvPr id="27" name="p03-gate-text"/>
          <p:cNvSpPr/>
          <p:nvPr/>
        </p:nvSpPr>
        <p:spPr>
          <a:xfrm>
            <a:off x="2692400" y="5461000"/>
            <a:ext cx="8585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调度员靠经验排一次要几个小时，排完说不清为什么这么排；换个人排，结果完全不同。</a:t>
            </a:r>
            <a:endParaRPr lang="en-US" sz="1400" dirty="0"/>
          </a:p>
        </p:txBody>
      </p:sp>
      <p:sp>
        <p:nvSpPr>
          <p:cNvPr id="28" name="p03-source"/>
          <p:cNvSpPr/>
          <p:nvPr/>
        </p:nvSpPr>
        <p:spPr>
          <a:xfrm>
            <a:off x="685800" y="6299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数据来源：需求文档 1.3 现有条件 / 1.4 核心业务约束 / 1.6 项目目标；2290 为实测单店日货量峰值</a:t>
            </a:r>
            <a:endParaRPr lang="en-US" sz="800" dirty="0"/>
          </a:p>
        </p:txBody>
      </p:sp>
      <p:sp>
        <p:nvSpPr>
          <p:cNvPr id="29" name="p03-page"/>
          <p:cNvSpPr/>
          <p:nvPr/>
        </p:nvSpPr>
        <p:spPr>
          <a:xfrm>
            <a:off x="11074400" y="62992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-rail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04-code"/>
          <p:cNvSpPr/>
          <p:nvPr/>
        </p:nvSpPr>
        <p:spPr>
          <a:xfrm>
            <a:off x="685800" y="4318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技术路线</a:t>
            </a:r>
            <a:endParaRPr lang="en-US" sz="1000" dirty="0"/>
          </a:p>
        </p:txBody>
      </p:sp>
      <p:sp>
        <p:nvSpPr>
          <p:cNvPr id="4" name="p04-title"/>
          <p:cNvSpPr/>
          <p:nvPr/>
        </p:nvSpPr>
        <p:spPr>
          <a:xfrm>
            <a:off x="685800" y="7366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三阶段混合求解，先保证有解，再谈最优</a:t>
            </a:r>
            <a:endParaRPr lang="en-US" sz="2600" dirty="0"/>
          </a:p>
        </p:txBody>
      </p:sp>
      <p:sp>
        <p:nvSpPr>
          <p:cNvPr id="5" name="p04-s1"/>
          <p:cNvSpPr/>
          <p:nvPr/>
        </p:nvSpPr>
        <p:spPr>
          <a:xfrm>
            <a:off x="685800" y="1549400"/>
            <a:ext cx="3403600" cy="2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6" name="p04-s1-head"/>
          <p:cNvSpPr/>
          <p:nvPr/>
        </p:nvSpPr>
        <p:spPr>
          <a:xfrm>
            <a:off x="685800" y="1549400"/>
            <a:ext cx="3403600" cy="3556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7" name="p04-s1-label"/>
          <p:cNvSpPr/>
          <p:nvPr/>
        </p:nvSpPr>
        <p:spPr>
          <a:xfrm>
            <a:off x="838200" y="1612900"/>
            <a:ext cx="309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01 / 启发式</a:t>
            </a:r>
            <a:endParaRPr lang="en-US" sz="900" dirty="0"/>
          </a:p>
        </p:txBody>
      </p:sp>
      <p:sp>
        <p:nvSpPr>
          <p:cNvPr id="8" name="p04-s1-title"/>
          <p:cNvSpPr/>
          <p:nvPr/>
        </p:nvSpPr>
        <p:spPr>
          <a:xfrm>
            <a:off x="838200" y="2057400"/>
            <a:ext cx="309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毫秒级出一个可行解</a:t>
            </a:r>
            <a:endParaRPr lang="en-US" sz="1500" dirty="0"/>
          </a:p>
        </p:txBody>
      </p:sp>
      <p:sp>
        <p:nvSpPr>
          <p:cNvPr id="9" name="p04-s1-body"/>
          <p:cNvSpPr/>
          <p:nvPr/>
        </p:nvSpPr>
        <p:spPr>
          <a:xfrm>
            <a:off x="838200" y="2489200"/>
            <a:ext cx="30988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按车型优先级排序，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再用 best-fit 贪心装车。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作用是兜底：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保证任何输入都有结果，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不会因为求解超时而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交不出方案。</a:t>
            </a:r>
            <a:endParaRPr lang="en-US" sz="1000" dirty="0"/>
          </a:p>
        </p:txBody>
      </p:sp>
      <p:sp>
        <p:nvSpPr>
          <p:cNvPr id="10" name="p04-ar-1"/>
          <p:cNvSpPr/>
          <p:nvPr/>
        </p:nvSpPr>
        <p:spPr>
          <a:xfrm>
            <a:off x="4165600" y="2641600"/>
            <a:ext cx="203200" cy="3302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1" name="p04-s2"/>
          <p:cNvSpPr/>
          <p:nvPr/>
        </p:nvSpPr>
        <p:spPr>
          <a:xfrm>
            <a:off x="4445000" y="1549400"/>
            <a:ext cx="3403600" cy="2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2" name="p04-s2-head"/>
          <p:cNvSpPr/>
          <p:nvPr/>
        </p:nvSpPr>
        <p:spPr>
          <a:xfrm>
            <a:off x="4445000" y="1549400"/>
            <a:ext cx="3403600" cy="3556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3" name="p04-s2-label"/>
          <p:cNvSpPr/>
          <p:nvPr/>
        </p:nvSpPr>
        <p:spPr>
          <a:xfrm>
            <a:off x="4597400" y="1612900"/>
            <a:ext cx="309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02 / CP-SAT</a:t>
            </a:r>
            <a:endParaRPr lang="en-US" sz="900" dirty="0"/>
          </a:p>
        </p:txBody>
      </p:sp>
      <p:sp>
        <p:nvSpPr>
          <p:cNvPr id="14" name="p04-s2-title"/>
          <p:cNvSpPr/>
          <p:nvPr/>
        </p:nvSpPr>
        <p:spPr>
          <a:xfrm>
            <a:off x="4597400" y="2057400"/>
            <a:ext cx="309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按目标函数做精确优化</a:t>
            </a:r>
            <a:endParaRPr lang="en-US" sz="1500" dirty="0"/>
          </a:p>
        </p:txBody>
      </p:sp>
      <p:sp>
        <p:nvSpPr>
          <p:cNvPr id="15" name="p04-s2-body"/>
          <p:cNvSpPr/>
          <p:nvPr/>
        </p:nvSpPr>
        <p:spPr>
          <a:xfrm>
            <a:off x="4597400" y="2489200"/>
            <a:ext cx="30988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OR-Tools CP-SAT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对每套方案各自的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权重目标求解。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设了超时上限，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超时自动回退到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01 的结果。</a:t>
            </a:r>
            <a:endParaRPr lang="en-US" sz="1000" dirty="0"/>
          </a:p>
        </p:txBody>
      </p:sp>
      <p:sp>
        <p:nvSpPr>
          <p:cNvPr id="16" name="p04-ar-2"/>
          <p:cNvSpPr/>
          <p:nvPr/>
        </p:nvSpPr>
        <p:spPr>
          <a:xfrm>
            <a:off x="7924800" y="2641600"/>
            <a:ext cx="203200" cy="3302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7" name="p04-s3"/>
          <p:cNvSpPr/>
          <p:nvPr/>
        </p:nvSpPr>
        <p:spPr>
          <a:xfrm>
            <a:off x="8204200" y="1549400"/>
            <a:ext cx="3302000" cy="2540000"/>
          </a:xfrm>
          <a:prstGeom prst="rect">
            <a:avLst/>
          </a:prstGeom>
          <a:solidFill>
            <a:srgbClr val="FFD400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8" name="p04-s3-head"/>
          <p:cNvSpPr/>
          <p:nvPr/>
        </p:nvSpPr>
        <p:spPr>
          <a:xfrm>
            <a:off x="8204200" y="1549400"/>
            <a:ext cx="3302000" cy="3556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9" name="p04-s3-label"/>
          <p:cNvSpPr/>
          <p:nvPr/>
        </p:nvSpPr>
        <p:spPr>
          <a:xfrm>
            <a:off x="8356600" y="16129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03 / 多方案</a:t>
            </a:r>
            <a:endParaRPr lang="en-US" sz="900" dirty="0"/>
          </a:p>
        </p:txBody>
      </p:sp>
      <p:sp>
        <p:nvSpPr>
          <p:cNvPr id="20" name="p04-s3-title"/>
          <p:cNvSpPr/>
          <p:nvPr/>
        </p:nvSpPr>
        <p:spPr>
          <a:xfrm>
            <a:off x="8356600" y="2057400"/>
            <a:ext cx="2997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输出四套方案给人工选</a:t>
            </a:r>
            <a:endParaRPr lang="en-US" sz="1500" dirty="0"/>
          </a:p>
        </p:txBody>
      </p:sp>
      <p:sp>
        <p:nvSpPr>
          <p:cNvPr id="21" name="p04-s3-body"/>
          <p:cNvSpPr/>
          <p:nvPr/>
        </p:nvSpPr>
        <p:spPr>
          <a:xfrm>
            <a:off x="8356600" y="2489200"/>
            <a:ext cx="29972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四米二优先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成本最低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大包小包保障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装载率均衡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每套带评分与推荐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理由，横向比选。</a:t>
            </a:r>
            <a:endParaRPr lang="en-US" sz="1000" dirty="0"/>
          </a:p>
        </p:txBody>
      </p:sp>
      <p:sp>
        <p:nvSpPr>
          <p:cNvPr id="22" name="p04-llm-band"/>
          <p:cNvSpPr/>
          <p:nvPr/>
        </p:nvSpPr>
        <p:spPr>
          <a:xfrm>
            <a:off x="685800" y="4343400"/>
            <a:ext cx="10820400" cy="609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4B31"/>
            </a:solidFill>
            <a:prstDash val="solid"/>
          </a:ln>
        </p:spPr>
      </p:sp>
      <p:sp>
        <p:nvSpPr>
          <p:cNvPr id="23" name="p04-llm-label"/>
          <p:cNvSpPr/>
          <p:nvPr/>
        </p:nvSpPr>
        <p:spPr>
          <a:xfrm>
            <a:off x="889000" y="4495800"/>
            <a:ext cx="215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C84B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900" dirty="0"/>
          </a:p>
        </p:txBody>
      </p:sp>
      <p:sp>
        <p:nvSpPr>
          <p:cNvPr id="24" name="p04-llm-text"/>
          <p:cNvSpPr/>
          <p:nvPr/>
        </p:nvSpPr>
        <p:spPr>
          <a:xfrm>
            <a:off x="3175000" y="44704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硬约束绝不交给 LLM。LLM 只做方案解释与自然语言生成，算错了也不影响方案可行性。</a:t>
            </a:r>
            <a:endParaRPr lang="en-US" sz="1300" dirty="0"/>
          </a:p>
        </p:txBody>
      </p:sp>
      <p:sp>
        <p:nvSpPr>
          <p:cNvPr id="25" name="p04-stack"/>
          <p:cNvSpPr/>
          <p:nvPr/>
        </p:nvSpPr>
        <p:spPr>
          <a:xfrm>
            <a:off x="685800" y="5130800"/>
            <a:ext cx="1082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Vue 3.5 · Vite 6 · Element Plus · ECharts    后端 Python 3.12 · FastAPI · SQLAlchemy 2.0 · Pydantic v2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MySQL 8.0 · 28 张表    认证 JWT HS256 + bcrypt    求解 OR-Tools CP-SAT 9.15 + 自研启发式    编排 LangGraph 1.2</a:t>
            </a:r>
            <a:endParaRPr lang="en-US" sz="1000" dirty="0"/>
          </a:p>
        </p:txBody>
      </p:sp>
      <p:sp>
        <p:nvSpPr>
          <p:cNvPr id="26" name="p04-source"/>
          <p:cNvSpPr/>
          <p:nvPr/>
        </p:nvSpPr>
        <p:spPr>
          <a:xfrm>
            <a:off x="685800" y="6299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说明：本机无 PostgreSQL 且 Docker 未启动，改用 MySQL；代码未使用任何 MySQL 方言，换 PG 只需改 config.py 的 drivername。</a:t>
            </a:r>
            <a:endParaRPr lang="en-US" sz="800" dirty="0"/>
          </a:p>
        </p:txBody>
      </p:sp>
      <p:sp>
        <p:nvSpPr>
          <p:cNvPr id="27" name="p04-page"/>
          <p:cNvSpPr/>
          <p:nvPr/>
        </p:nvSpPr>
        <p:spPr>
          <a:xfrm>
            <a:off x="11074400" y="62992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-rail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05-code"/>
          <p:cNvSpPr/>
          <p:nvPr/>
        </p:nvSpPr>
        <p:spPr>
          <a:xfrm>
            <a:off x="685800" y="4318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真正卡住我的三个问题</a:t>
            </a:r>
            <a:endParaRPr lang="en-US" sz="1000" dirty="0"/>
          </a:p>
        </p:txBody>
      </p:sp>
      <p:sp>
        <p:nvSpPr>
          <p:cNvPr id="4" name="p05-title"/>
          <p:cNvSpPr/>
          <p:nvPr/>
        </p:nvSpPr>
        <p:spPr>
          <a:xfrm>
            <a:off x="685800" y="7366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需求文档没写的东西，不等于业务不需要</a:t>
            </a:r>
            <a:endParaRPr lang="en-US" sz="2600" dirty="0"/>
          </a:p>
        </p:txBody>
      </p:sp>
      <p:sp>
        <p:nvSpPr>
          <p:cNvPr id="5" name="p05-c1"/>
          <p:cNvSpPr/>
          <p:nvPr/>
        </p:nvSpPr>
        <p:spPr>
          <a:xfrm>
            <a:off x="685800" y="1498600"/>
            <a:ext cx="3403600" cy="327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6" name="p05-c1-no"/>
          <p:cNvSpPr/>
          <p:nvPr/>
        </p:nvSpPr>
        <p:spPr>
          <a:xfrm>
            <a:off x="685800" y="1498600"/>
            <a:ext cx="584200" cy="5842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7" name="p05-c1-no-text"/>
          <p:cNvSpPr/>
          <p:nvPr/>
        </p:nvSpPr>
        <p:spPr>
          <a:xfrm>
            <a:off x="685800" y="1498600"/>
            <a:ext cx="584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p05-c1-title"/>
          <p:cNvSpPr/>
          <p:nvPr/>
        </p:nvSpPr>
        <p:spPr>
          <a:xfrm>
            <a:off x="1422400" y="16002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是需求空白，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不是代码 bug</a:t>
            </a:r>
            <a:endParaRPr lang="en-US" sz="1300" dirty="0"/>
          </a:p>
        </p:txBody>
      </p:sp>
      <p:sp>
        <p:nvSpPr>
          <p:cNvPr id="9" name="p05-c1-panel"/>
          <p:cNvSpPr/>
          <p:nvPr/>
        </p:nvSpPr>
        <p:spPr>
          <a:xfrm>
            <a:off x="685800" y="2235200"/>
            <a:ext cx="3403600" cy="8636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0" name="p05-c1-panel-text"/>
          <p:cNvSpPr/>
          <p:nvPr/>
        </p:nvSpPr>
        <p:spPr>
          <a:xfrm>
            <a:off x="863600" y="2336800"/>
            <a:ext cx="304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严格按文档实现 = 覆盖率 25%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允许门店货量拆到多趟 = 99.8%</a:t>
            </a:r>
            <a:endParaRPr lang="en-US" sz="1000" dirty="0"/>
          </a:p>
        </p:txBody>
      </p:sp>
      <p:sp>
        <p:nvSpPr>
          <p:cNvPr id="11" name="p05-c1-body"/>
          <p:cNvSpPr/>
          <p:nvPr/>
        </p:nvSpPr>
        <p:spPr>
          <a:xfrm>
            <a:off x="838200" y="3251200"/>
            <a:ext cx="309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有门店日货量 2290，四米二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单车上限只有 800 —— 一趟车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物理上就装不下。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文档没禁止拆单，也没说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要拆。跟业务口径核对后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改成允许拆单。</a:t>
            </a:r>
            <a:endParaRPr lang="en-US" sz="1000" dirty="0"/>
          </a:p>
        </p:txBody>
      </p:sp>
      <p:sp>
        <p:nvSpPr>
          <p:cNvPr id="12" name="p05-c2"/>
          <p:cNvSpPr/>
          <p:nvPr/>
        </p:nvSpPr>
        <p:spPr>
          <a:xfrm>
            <a:off x="4394200" y="1498600"/>
            <a:ext cx="3403600" cy="327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3" name="p05-c2-no"/>
          <p:cNvSpPr/>
          <p:nvPr/>
        </p:nvSpPr>
        <p:spPr>
          <a:xfrm>
            <a:off x="4394200" y="1498600"/>
            <a:ext cx="584200" cy="5842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4" name="p05-c2-no-text"/>
          <p:cNvSpPr/>
          <p:nvPr/>
        </p:nvSpPr>
        <p:spPr>
          <a:xfrm>
            <a:off x="4394200" y="1498600"/>
            <a:ext cx="584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p05-c2-title"/>
          <p:cNvSpPr/>
          <p:nvPr/>
        </p:nvSpPr>
        <p:spPr>
          <a:xfrm>
            <a:off x="5130800" y="16002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不能让求解器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自己验自己</a:t>
            </a:r>
            <a:endParaRPr lang="en-US" sz="1300" dirty="0"/>
          </a:p>
        </p:txBody>
      </p:sp>
      <p:sp>
        <p:nvSpPr>
          <p:cNvPr id="16" name="p05-c2-panel"/>
          <p:cNvSpPr/>
          <p:nvPr/>
        </p:nvSpPr>
        <p:spPr>
          <a:xfrm>
            <a:off x="4394200" y="2235200"/>
            <a:ext cx="3403600" cy="863600"/>
          </a:xfrm>
          <a:prstGeom prst="rect">
            <a:avLst/>
          </a:prstGeom>
          <a:solidFill>
            <a:srgbClr val="FFF3A6"/>
          </a:solidFill>
          <a:ln w="12700">
            <a:solidFill>
              <a:srgbClr val="FFF3A6"/>
            </a:solidFill>
            <a:prstDash val="solid"/>
          </a:ln>
        </p:spPr>
      </p:sp>
      <p:sp>
        <p:nvSpPr>
          <p:cNvPr id="17" name="p05-c2-panel-text"/>
          <p:cNvSpPr/>
          <p:nvPr/>
        </p:nvSpPr>
        <p:spPr>
          <a:xfrm>
            <a:off x="4572000" y="2336800"/>
            <a:ext cx="304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求解器内部已判过 7 条硬约束，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但不拿它的输出去当校验结果。</a:t>
            </a:r>
            <a:endParaRPr lang="en-US" sz="1000" dirty="0"/>
          </a:p>
        </p:txBody>
      </p:sp>
      <p:sp>
        <p:nvSpPr>
          <p:cNvPr id="18" name="p05-c2-body"/>
          <p:cNvSpPr/>
          <p:nvPr/>
        </p:nvSpPr>
        <p:spPr>
          <a:xfrm>
            <a:off x="4546600" y="3175000"/>
            <a:ext cx="30988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万一求解器本身有 bug，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它错的同时也会「认为」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自己对 —— 自己验自己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等于没验。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另写独立的 validate_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solution()，用另一套代码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复核全部 7 条硬约束。</a:t>
            </a:r>
            <a:endParaRPr lang="en-US" sz="1000" dirty="0"/>
          </a:p>
        </p:txBody>
      </p:sp>
      <p:sp>
        <p:nvSpPr>
          <p:cNvPr id="19" name="p05-c3"/>
          <p:cNvSpPr/>
          <p:nvPr/>
        </p:nvSpPr>
        <p:spPr>
          <a:xfrm>
            <a:off x="8102600" y="1498600"/>
            <a:ext cx="3403600" cy="327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4B31"/>
            </a:solidFill>
            <a:prstDash val="solid"/>
          </a:ln>
        </p:spPr>
      </p:sp>
      <p:sp>
        <p:nvSpPr>
          <p:cNvPr id="20" name="p05-c3-no"/>
          <p:cNvSpPr/>
          <p:nvPr/>
        </p:nvSpPr>
        <p:spPr>
          <a:xfrm>
            <a:off x="8102600" y="1498600"/>
            <a:ext cx="584200" cy="5842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1" name="p05-c3-no-text"/>
          <p:cNvSpPr/>
          <p:nvPr/>
        </p:nvSpPr>
        <p:spPr>
          <a:xfrm>
            <a:off x="8102600" y="1498600"/>
            <a:ext cx="584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p05-c3-title"/>
          <p:cNvSpPr/>
          <p:nvPr/>
        </p:nvSpPr>
        <p:spPr>
          <a:xfrm>
            <a:off x="8839200" y="16002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编不出来的数据，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我不编</a:t>
            </a:r>
            <a:endParaRPr lang="en-US" sz="1300" dirty="0"/>
          </a:p>
        </p:txBody>
      </p:sp>
      <p:sp>
        <p:nvSpPr>
          <p:cNvPr id="23" name="p05-c3-panel"/>
          <p:cNvSpPr/>
          <p:nvPr/>
        </p:nvSpPr>
        <p:spPr>
          <a:xfrm>
            <a:off x="8102600" y="2235200"/>
            <a:ext cx="3403600" cy="8636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4" name="p05-c3-panel-text"/>
          <p:cNvSpPr/>
          <p:nvPr/>
        </p:nvSpPr>
        <p:spPr>
          <a:xfrm>
            <a:off x="8280400" y="2336800"/>
            <a:ext cx="304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需求要 QPS、P95 延迟、Redis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命中率 —— 本机没有这些组件。</a:t>
            </a:r>
            <a:endParaRPr lang="en-US" sz="1000" dirty="0"/>
          </a:p>
        </p:txBody>
      </p:sp>
      <p:sp>
        <p:nvSpPr>
          <p:cNvPr id="25" name="p05-c3-body"/>
          <p:cNvSpPr/>
          <p:nvPr/>
        </p:nvSpPr>
        <p:spPr>
          <a:xfrm>
            <a:off x="8255000" y="3251200"/>
            <a:ext cx="309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页面上如实标注「未接入」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「未连通」，并说明本地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已落地哪些链路。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编造的监控数据，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比没有监控更危险。</a:t>
            </a:r>
            <a:endParaRPr lang="en-US" sz="1000" dirty="0"/>
          </a:p>
        </p:txBody>
      </p:sp>
      <p:sp>
        <p:nvSpPr>
          <p:cNvPr id="26" name="p05-gate"/>
          <p:cNvSpPr/>
          <p:nvPr/>
        </p:nvSpPr>
        <p:spPr>
          <a:xfrm>
            <a:off x="685800" y="5029200"/>
            <a:ext cx="10820400" cy="711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7" name="p05-gate-label"/>
          <p:cNvSpPr/>
          <p:nvPr/>
        </p:nvSpPr>
        <p:spPr>
          <a:xfrm>
            <a:off x="939800" y="52070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这三件事说明</a:t>
            </a:r>
            <a:endParaRPr lang="en-US" sz="900" dirty="0"/>
          </a:p>
        </p:txBody>
      </p:sp>
      <p:sp>
        <p:nvSpPr>
          <p:cNvPr id="28" name="p05-gate-text"/>
          <p:cNvSpPr/>
          <p:nvPr/>
        </p:nvSpPr>
        <p:spPr>
          <a:xfrm>
            <a:off x="2692400" y="5156200"/>
            <a:ext cx="858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需求文档只是起点，真正的业务口径得自己去核；验证要独立于实现；交不出的部分如实说明。</a:t>
            </a:r>
            <a:endParaRPr lang="en-US" sz="1400" dirty="0"/>
          </a:p>
        </p:txBody>
      </p:sp>
      <p:sp>
        <p:nvSpPr>
          <p:cNvPr id="29" name="p05-source"/>
          <p:cNvSpPr/>
          <p:nvPr/>
        </p:nvSpPr>
        <p:spPr>
          <a:xfrm>
            <a:off x="685800" y="6299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数据来源：本项目实测（早期版本覆盖率 25%，允许拆单后 99.8%）；求解器校验见 services/solver.py</a:t>
            </a:r>
            <a:endParaRPr lang="en-US" sz="800" dirty="0"/>
          </a:p>
        </p:txBody>
      </p:sp>
      <p:sp>
        <p:nvSpPr>
          <p:cNvPr id="30" name="p05-page"/>
          <p:cNvSpPr/>
          <p:nvPr/>
        </p:nvSpPr>
        <p:spPr>
          <a:xfrm>
            <a:off x="11074400" y="62992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-to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06-code"/>
          <p:cNvSpPr/>
          <p:nvPr/>
        </p:nvSpPr>
        <p:spPr>
          <a:xfrm>
            <a:off x="685800" y="4318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调度全流程</a:t>
            </a:r>
            <a:endParaRPr lang="en-US" sz="1000" dirty="0"/>
          </a:p>
        </p:txBody>
      </p:sp>
      <p:sp>
        <p:nvSpPr>
          <p:cNvPr id="4" name="p06-title"/>
          <p:cNvSpPr/>
          <p:nvPr/>
        </p:nvSpPr>
        <p:spPr>
          <a:xfrm>
            <a:off x="685800" y="7366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从货量数据到派车指令，一条链路走到底</a:t>
            </a:r>
            <a:endParaRPr lang="en-US" sz="2600" dirty="0"/>
          </a:p>
        </p:txBody>
      </p:sp>
      <p:sp>
        <p:nvSpPr>
          <p:cNvPr id="5" name="p06-n1"/>
          <p:cNvSpPr/>
          <p:nvPr/>
        </p:nvSpPr>
        <p:spPr>
          <a:xfrm>
            <a:off x="685800" y="1676400"/>
            <a:ext cx="17272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6" name="p06-n1-tag"/>
          <p:cNvSpPr/>
          <p:nvPr/>
        </p:nvSpPr>
        <p:spPr>
          <a:xfrm>
            <a:off x="685800" y="1676400"/>
            <a:ext cx="1727200" cy="1143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7" name="p06-n1-text"/>
          <p:cNvSpPr/>
          <p:nvPr/>
        </p:nvSpPr>
        <p:spPr>
          <a:xfrm>
            <a:off x="787400" y="1854200"/>
            <a:ext cx="15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数据感知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货量 · 车辆 · 限制</a:t>
            </a:r>
            <a:endParaRPr lang="en-US" sz="900" dirty="0"/>
          </a:p>
        </p:txBody>
      </p:sp>
      <p:sp>
        <p:nvSpPr>
          <p:cNvPr id="8" name="p06-a1"/>
          <p:cNvSpPr/>
          <p:nvPr/>
        </p:nvSpPr>
        <p:spPr>
          <a:xfrm>
            <a:off x="2489200" y="2006600"/>
            <a:ext cx="177800" cy="1270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9" name="p06-n2"/>
          <p:cNvSpPr/>
          <p:nvPr/>
        </p:nvSpPr>
        <p:spPr>
          <a:xfrm>
            <a:off x="2743200" y="1676400"/>
            <a:ext cx="17272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0" name="p06-n2-tag"/>
          <p:cNvSpPr/>
          <p:nvPr/>
        </p:nvSpPr>
        <p:spPr>
          <a:xfrm>
            <a:off x="2743200" y="1676400"/>
            <a:ext cx="1727200" cy="1143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1" name="p06-n2-text"/>
          <p:cNvSpPr/>
          <p:nvPr/>
        </p:nvSpPr>
        <p:spPr>
          <a:xfrm>
            <a:off x="2844800" y="1854200"/>
            <a:ext cx="15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约束解析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条业务规则</a:t>
            </a:r>
            <a:endParaRPr lang="en-US" sz="900" dirty="0"/>
          </a:p>
        </p:txBody>
      </p:sp>
      <p:sp>
        <p:nvSpPr>
          <p:cNvPr id="12" name="p06-a2"/>
          <p:cNvSpPr/>
          <p:nvPr/>
        </p:nvSpPr>
        <p:spPr>
          <a:xfrm>
            <a:off x="4546600" y="2006600"/>
            <a:ext cx="177800" cy="1270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3" name="p06-n3"/>
          <p:cNvSpPr/>
          <p:nvPr/>
        </p:nvSpPr>
        <p:spPr>
          <a:xfrm>
            <a:off x="4800600" y="1676400"/>
            <a:ext cx="17272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4" name="p06-n3-tag"/>
          <p:cNvSpPr/>
          <p:nvPr/>
        </p:nvSpPr>
        <p:spPr>
          <a:xfrm>
            <a:off x="4800600" y="1676400"/>
            <a:ext cx="1727200" cy="1143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5" name="p06-n3-text"/>
          <p:cNvSpPr/>
          <p:nvPr/>
        </p:nvSpPr>
        <p:spPr>
          <a:xfrm>
            <a:off x="4902200" y="1854200"/>
            <a:ext cx="15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规则校验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版本化配置生效</a:t>
            </a:r>
            <a:endParaRPr lang="en-US" sz="900" dirty="0"/>
          </a:p>
        </p:txBody>
      </p:sp>
      <p:sp>
        <p:nvSpPr>
          <p:cNvPr id="16" name="p06-a3"/>
          <p:cNvSpPr/>
          <p:nvPr/>
        </p:nvSpPr>
        <p:spPr>
          <a:xfrm>
            <a:off x="6604000" y="2006600"/>
            <a:ext cx="177800" cy="1270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7" name="p06-n4"/>
          <p:cNvSpPr/>
          <p:nvPr/>
        </p:nvSpPr>
        <p:spPr>
          <a:xfrm>
            <a:off x="6858000" y="1676400"/>
            <a:ext cx="1727200" cy="787400"/>
          </a:xfrm>
          <a:prstGeom prst="rect">
            <a:avLst/>
          </a:prstGeom>
          <a:solidFill>
            <a:srgbClr val="FFD400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8" name="p06-n4-text"/>
          <p:cNvSpPr/>
          <p:nvPr/>
        </p:nvSpPr>
        <p:spPr>
          <a:xfrm>
            <a:off x="6959600" y="1854200"/>
            <a:ext cx="15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方案生成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四套方案 + 评分</a:t>
            </a:r>
            <a:endParaRPr lang="en-US" sz="900" dirty="0"/>
          </a:p>
        </p:txBody>
      </p:sp>
      <p:sp>
        <p:nvSpPr>
          <p:cNvPr id="19" name="p06-a4"/>
          <p:cNvSpPr/>
          <p:nvPr/>
        </p:nvSpPr>
        <p:spPr>
          <a:xfrm>
            <a:off x="8661400" y="2006600"/>
            <a:ext cx="177800" cy="1270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0" name="p06-n5"/>
          <p:cNvSpPr/>
          <p:nvPr/>
        </p:nvSpPr>
        <p:spPr>
          <a:xfrm>
            <a:off x="8915400" y="1676400"/>
            <a:ext cx="12192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21" name="p06-n5-tag"/>
          <p:cNvSpPr/>
          <p:nvPr/>
        </p:nvSpPr>
        <p:spPr>
          <a:xfrm>
            <a:off x="8915400" y="1676400"/>
            <a:ext cx="1219200" cy="1143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2" name="p06-n5-text"/>
          <p:cNvSpPr/>
          <p:nvPr/>
        </p:nvSpPr>
        <p:spPr>
          <a:xfrm>
            <a:off x="8991600" y="1854200"/>
            <a:ext cx="1066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人工确认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调度员选方案</a:t>
            </a:r>
            <a:endParaRPr lang="en-US" sz="900" dirty="0"/>
          </a:p>
        </p:txBody>
      </p:sp>
      <p:sp>
        <p:nvSpPr>
          <p:cNvPr id="23" name="p06-a5"/>
          <p:cNvSpPr/>
          <p:nvPr/>
        </p:nvSpPr>
        <p:spPr>
          <a:xfrm>
            <a:off x="10210800" y="2006600"/>
            <a:ext cx="177800" cy="1270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4" name="p06-n6"/>
          <p:cNvSpPr/>
          <p:nvPr/>
        </p:nvSpPr>
        <p:spPr>
          <a:xfrm>
            <a:off x="10464800" y="1676400"/>
            <a:ext cx="1041400" cy="787400"/>
          </a:xfrm>
          <a:prstGeom prst="rect">
            <a:avLst/>
          </a:prstGeom>
          <a:solidFill>
            <a:srgbClr val="202224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25" name="p06-n6-text"/>
          <p:cNvSpPr/>
          <p:nvPr/>
        </p:nvSpPr>
        <p:spPr>
          <a:xfrm>
            <a:off x="10541000" y="1854200"/>
            <a:ext cx="88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下发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 · 可追溯</a:t>
            </a:r>
            <a:endParaRPr lang="en-US" sz="900" dirty="0"/>
          </a:p>
        </p:txBody>
      </p:sp>
      <p:sp>
        <p:nvSpPr>
          <p:cNvPr id="26" name="p06-d1"/>
          <p:cNvSpPr/>
          <p:nvPr/>
        </p:nvSpPr>
        <p:spPr>
          <a:xfrm>
            <a:off x="685800" y="2870200"/>
            <a:ext cx="5257800" cy="147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27" name="p06-d1-head"/>
          <p:cNvSpPr/>
          <p:nvPr/>
        </p:nvSpPr>
        <p:spPr>
          <a:xfrm>
            <a:off x="685800" y="2870200"/>
            <a:ext cx="5257800" cy="3175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8" name="p06-d1-label"/>
          <p:cNvSpPr/>
          <p:nvPr/>
        </p:nvSpPr>
        <p:spPr>
          <a:xfrm>
            <a:off x="838200" y="29210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工程细节 01 / 下发幂等</a:t>
            </a:r>
            <a:endParaRPr lang="en-US" sz="900" dirty="0"/>
          </a:p>
        </p:txBody>
      </p:sp>
      <p:sp>
        <p:nvSpPr>
          <p:cNvPr id="29" name="p06-d1-body"/>
          <p:cNvSpPr/>
          <p:nvPr/>
        </p:nvSpPr>
        <p:spPr>
          <a:xfrm>
            <a:off x="838200" y="3302000"/>
            <a:ext cx="4953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dispatch_record 上 (task_id, plan_id, trip_id) 建唯一约束。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重复点「下发」返回「新增 0、跳过 47」，不会产生重复任务。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页面演示时故意连点两次，就是这个效果。</a:t>
            </a:r>
            <a:endParaRPr lang="en-US" sz="1000" dirty="0"/>
          </a:p>
        </p:txBody>
      </p:sp>
      <p:sp>
        <p:nvSpPr>
          <p:cNvPr id="30" name="p06-d2"/>
          <p:cNvSpPr/>
          <p:nvPr/>
        </p:nvSpPr>
        <p:spPr>
          <a:xfrm>
            <a:off x="6248400" y="2870200"/>
            <a:ext cx="5257800" cy="147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31" name="p06-d2-head"/>
          <p:cNvSpPr/>
          <p:nvPr/>
        </p:nvSpPr>
        <p:spPr>
          <a:xfrm>
            <a:off x="6248400" y="2870200"/>
            <a:ext cx="5257800" cy="3175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32" name="p06-d2-label"/>
          <p:cNvSpPr/>
          <p:nvPr/>
        </p:nvSpPr>
        <p:spPr>
          <a:xfrm>
            <a:off x="6400800" y="29210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工程细节 02 / 异常重排</a:t>
            </a:r>
            <a:endParaRPr lang="en-US" sz="900" dirty="0"/>
          </a:p>
        </p:txBody>
      </p:sp>
      <p:sp>
        <p:nvSpPr>
          <p:cNvPr id="33" name="p06-d2-body"/>
          <p:cNvSpPr/>
          <p:nvPr/>
        </p:nvSpPr>
        <p:spPr>
          <a:xfrm>
            <a:off x="6400800" y="3302000"/>
            <a:ext cx="4953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车辆故障、门店加减货可上报异常触发重排。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已执行过的趟次锁死不动；重排次数有上限（默认 3 次），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连点到上限会明确拒绝，避免死循环。</a:t>
            </a:r>
            <a:endParaRPr lang="en-US" sz="1000" dirty="0"/>
          </a:p>
        </p:txBody>
      </p:sp>
      <p:sp>
        <p:nvSpPr>
          <p:cNvPr id="34" name="p06-gate"/>
          <p:cNvSpPr/>
          <p:nvPr/>
        </p:nvSpPr>
        <p:spPr>
          <a:xfrm>
            <a:off x="685800" y="4597400"/>
            <a:ext cx="10820400" cy="6858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5" name="p06-gate-label"/>
          <p:cNvSpPr/>
          <p:nvPr/>
        </p:nvSpPr>
        <p:spPr>
          <a:xfrm>
            <a:off x="939800" y="4775200"/>
            <a:ext cx="190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关键取舍</a:t>
            </a:r>
            <a:endParaRPr lang="en-US" sz="900" dirty="0"/>
          </a:p>
        </p:txBody>
      </p:sp>
      <p:sp>
        <p:nvSpPr>
          <p:cNvPr id="36" name="p06-gate-text"/>
          <p:cNvSpPr/>
          <p:nvPr/>
        </p:nvSpPr>
        <p:spPr>
          <a:xfrm>
            <a:off x="2692400" y="4724400"/>
            <a:ext cx="8585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机器负责算，人负责决定。方案不自动执行，必须经调度员确认才下发。</a:t>
            </a:r>
            <a:endParaRPr lang="en-US" sz="1400" dirty="0"/>
          </a:p>
        </p:txBody>
      </p:sp>
      <p:sp>
        <p:nvSpPr>
          <p:cNvPr id="37" name="p06-source"/>
          <p:cNvSpPr/>
          <p:nvPr/>
        </p:nvSpPr>
        <p:spPr>
          <a:xfrm>
            <a:off x="685800" y="6299200"/>
            <a:ext cx="965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节点名称对应 backend/app/services/solver.py 与 LangGraph 工作流；重排上限见 .env 的 REPLAN_MAX_COUNT</a:t>
            </a:r>
            <a:endParaRPr lang="en-US" sz="800" dirty="0"/>
          </a:p>
        </p:txBody>
      </p:sp>
      <p:sp>
        <p:nvSpPr>
          <p:cNvPr id="38" name="p06-page"/>
          <p:cNvSpPr/>
          <p:nvPr/>
        </p:nvSpPr>
        <p:spPr>
          <a:xfrm>
            <a:off x="11074400" y="62992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-to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07-code"/>
          <p:cNvSpPr/>
          <p:nvPr/>
        </p:nvSpPr>
        <p:spPr>
          <a:xfrm>
            <a:off x="685800" y="431800"/>
            <a:ext cx="711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规则与 AI 的分工</a:t>
            </a:r>
            <a:endParaRPr lang="en-US" sz="1000" dirty="0"/>
          </a:p>
        </p:txBody>
      </p:sp>
      <p:sp>
        <p:nvSpPr>
          <p:cNvPr id="4" name="p07-title"/>
          <p:cNvSpPr/>
          <p:nvPr/>
        </p:nvSpPr>
        <p:spPr>
          <a:xfrm>
            <a:off x="685800" y="7366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边界情况交给规则，不交给 AI</a:t>
            </a:r>
            <a:endParaRPr lang="en-US" sz="2600" dirty="0"/>
          </a:p>
        </p:txBody>
      </p:sp>
      <p:sp>
        <p:nvSpPr>
          <p:cNvPr id="5" name="p07-l1"/>
          <p:cNvSpPr/>
          <p:nvPr/>
        </p:nvSpPr>
        <p:spPr>
          <a:xfrm>
            <a:off x="685800" y="1549400"/>
            <a:ext cx="5257800" cy="939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6" name="p07-l1-no"/>
          <p:cNvSpPr/>
          <p:nvPr/>
        </p:nvSpPr>
        <p:spPr>
          <a:xfrm>
            <a:off x="863600" y="170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规则层</a:t>
            </a:r>
            <a:endParaRPr lang="en-US" sz="900" dirty="0"/>
          </a:p>
        </p:txBody>
      </p:sp>
      <p:sp>
        <p:nvSpPr>
          <p:cNvPr id="7" name="p07-l1-text"/>
          <p:cNvSpPr/>
          <p:nvPr/>
        </p:nvSpPr>
        <p:spPr>
          <a:xfrm>
            <a:off x="863600" y="2032000"/>
            <a:ext cx="490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条业务约束 · 装载量门槛 · 时段归属 · 地形通行矩阵 · 线路映射</a:t>
            </a:r>
            <a:endParaRPr lang="en-US" sz="1050" dirty="0"/>
          </a:p>
        </p:txBody>
      </p:sp>
      <p:sp>
        <p:nvSpPr>
          <p:cNvPr id="8" name="p07-l2"/>
          <p:cNvSpPr/>
          <p:nvPr/>
        </p:nvSpPr>
        <p:spPr>
          <a:xfrm>
            <a:off x="6248400" y="1549400"/>
            <a:ext cx="5257800" cy="939800"/>
          </a:xfrm>
          <a:prstGeom prst="rect">
            <a:avLst/>
          </a:prstGeom>
          <a:solidFill>
            <a:srgbClr val="202224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9" name="p07-l2-no"/>
          <p:cNvSpPr/>
          <p:nvPr/>
        </p:nvSpPr>
        <p:spPr>
          <a:xfrm>
            <a:off x="6426200" y="170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求解层</a:t>
            </a:r>
            <a:endParaRPr lang="en-US" sz="900" dirty="0"/>
          </a:p>
        </p:txBody>
      </p:sp>
      <p:sp>
        <p:nvSpPr>
          <p:cNvPr id="10" name="p07-l2-text"/>
          <p:cNvSpPr/>
          <p:nvPr/>
        </p:nvSpPr>
        <p:spPr>
          <a:xfrm>
            <a:off x="6426200" y="2032000"/>
            <a:ext cx="490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启发式 + CP-SAT 求可行解与优化目标，输出四套带评分的方案</a:t>
            </a:r>
            <a:endParaRPr lang="en-US" sz="1050" dirty="0"/>
          </a:p>
        </p:txBody>
      </p:sp>
      <p:sp>
        <p:nvSpPr>
          <p:cNvPr id="11" name="p07-arrow"/>
          <p:cNvSpPr/>
          <p:nvPr/>
        </p:nvSpPr>
        <p:spPr>
          <a:xfrm>
            <a:off x="5765800" y="3810000"/>
            <a:ext cx="660400" cy="101600"/>
          </a:xfrm>
          <a:prstGeom prst="rect">
            <a:avLst/>
          </a:prstGeom>
          <a:solidFill>
            <a:srgbClr val="AEB4B5"/>
          </a:solidFill>
          <a:ln w="12700">
            <a:solidFill>
              <a:srgbClr val="AEB4B5"/>
            </a:solidFill>
            <a:prstDash val="solid"/>
          </a:ln>
        </p:spPr>
      </p:sp>
      <p:sp>
        <p:nvSpPr>
          <p:cNvPr id="12" name="p07-l3"/>
          <p:cNvSpPr/>
          <p:nvPr/>
        </p:nvSpPr>
        <p:spPr>
          <a:xfrm>
            <a:off x="685800" y="2844800"/>
            <a:ext cx="10820400" cy="73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3" name="p07-l3-no"/>
          <p:cNvSpPr/>
          <p:nvPr/>
        </p:nvSpPr>
        <p:spPr>
          <a:xfrm>
            <a:off x="863600" y="304800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84B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层</a:t>
            </a:r>
            <a:endParaRPr lang="en-US" sz="900" dirty="0"/>
          </a:p>
        </p:txBody>
      </p:sp>
      <p:sp>
        <p:nvSpPr>
          <p:cNvPr id="14" name="p07-l3-text"/>
          <p:cNvSpPr/>
          <p:nvPr/>
        </p:nvSpPr>
        <p:spPr>
          <a:xfrm>
            <a:off x="2032000" y="3048000"/>
            <a:ext cx="927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只生成方案解释、调度报告与自然语言摘要。不参与任何约束判断，算错也不影响可行性。</a:t>
            </a:r>
            <a:endParaRPr lang="en-US" sz="1050" dirty="0"/>
          </a:p>
        </p:txBody>
      </p:sp>
      <p:sp>
        <p:nvSpPr>
          <p:cNvPr id="15" name="p07-eg-head"/>
          <p:cNvSpPr/>
          <p:nvPr/>
        </p:nvSpPr>
        <p:spPr>
          <a:xfrm>
            <a:off x="685800" y="3835400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规则层实际拦下的三类边界情况</a:t>
            </a:r>
            <a:endParaRPr lang="en-US" sz="900" dirty="0"/>
          </a:p>
        </p:txBody>
      </p:sp>
      <p:sp>
        <p:nvSpPr>
          <p:cNvPr id="16" name="p07-eg1"/>
          <p:cNvSpPr/>
          <p:nvPr/>
        </p:nvSpPr>
        <p:spPr>
          <a:xfrm>
            <a:off x="685800" y="4140200"/>
            <a:ext cx="3403600" cy="1168400"/>
          </a:xfrm>
          <a:prstGeom prst="rect">
            <a:avLst/>
          </a:prstGeom>
          <a:solidFill>
            <a:srgbClr val="FFF3A6"/>
          </a:solidFill>
          <a:ln w="12700">
            <a:solidFill>
              <a:srgbClr val="FFF3A6"/>
            </a:solidFill>
            <a:prstDash val="solid"/>
          </a:ln>
        </p:spPr>
      </p:sp>
      <p:sp>
        <p:nvSpPr>
          <p:cNvPr id="17" name="p07-eg1-t"/>
          <p:cNvSpPr/>
          <p:nvPr/>
        </p:nvSpPr>
        <p:spPr>
          <a:xfrm>
            <a:off x="863600" y="4292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趟次拆分不自洽</a:t>
            </a:r>
            <a:endParaRPr lang="en-US" sz="1050" dirty="0"/>
          </a:p>
        </p:txBody>
      </p:sp>
      <p:sp>
        <p:nvSpPr>
          <p:cNvPr id="18" name="p07-eg1-b"/>
          <p:cNvSpPr/>
          <p:nvPr/>
        </p:nvSpPr>
        <p:spPr>
          <a:xfrm>
            <a:off x="863600" y="4597400"/>
            <a:ext cx="3048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上午趟次 + 下午趟次 ≠ 每日趟次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时直接拒绝，不允许存进配置。</a:t>
            </a:r>
            <a:endParaRPr lang="en-US" sz="950" dirty="0"/>
          </a:p>
        </p:txBody>
      </p:sp>
      <p:sp>
        <p:nvSpPr>
          <p:cNvPr id="19" name="p07-eg2"/>
          <p:cNvSpPr/>
          <p:nvPr/>
        </p:nvSpPr>
        <p:spPr>
          <a:xfrm>
            <a:off x="4394200" y="4140200"/>
            <a:ext cx="3403600" cy="1168400"/>
          </a:xfrm>
          <a:prstGeom prst="rect">
            <a:avLst/>
          </a:prstGeom>
          <a:solidFill>
            <a:srgbClr val="FFF3A6"/>
          </a:solidFill>
          <a:ln w="12700">
            <a:solidFill>
              <a:srgbClr val="FFF3A6"/>
            </a:solidFill>
            <a:prstDash val="solid"/>
          </a:ln>
        </p:spPr>
      </p:sp>
      <p:sp>
        <p:nvSpPr>
          <p:cNvPr id="20" name="p07-eg2-t"/>
          <p:cNvSpPr/>
          <p:nvPr/>
        </p:nvSpPr>
        <p:spPr>
          <a:xfrm>
            <a:off x="4572000" y="4292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地形通行不允许</a:t>
            </a:r>
            <a:endParaRPr lang="en-US" sz="1050" dirty="0"/>
          </a:p>
        </p:txBody>
      </p:sp>
      <p:sp>
        <p:nvSpPr>
          <p:cNvPr id="21" name="p07-eg2-b"/>
          <p:cNvSpPr/>
          <p:nvPr/>
        </p:nvSpPr>
        <p:spPr>
          <a:xfrm>
            <a:off x="4572000" y="4597400"/>
            <a:ext cx="3048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严控地形禁止小包车型进入，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矩阵在保存时就做校验。</a:t>
            </a:r>
            <a:endParaRPr lang="en-US" sz="950" dirty="0"/>
          </a:p>
        </p:txBody>
      </p:sp>
      <p:sp>
        <p:nvSpPr>
          <p:cNvPr id="22" name="p07-eg3"/>
          <p:cNvSpPr/>
          <p:nvPr/>
        </p:nvSpPr>
        <p:spPr>
          <a:xfrm>
            <a:off x="8102600" y="4140200"/>
            <a:ext cx="3403600" cy="1168400"/>
          </a:xfrm>
          <a:prstGeom prst="rect">
            <a:avLst/>
          </a:prstGeom>
          <a:solidFill>
            <a:srgbClr val="FFF3A6"/>
          </a:solidFill>
          <a:ln w="12700">
            <a:solidFill>
              <a:srgbClr val="FFF3A6"/>
            </a:solidFill>
            <a:prstDash val="solid"/>
          </a:ln>
        </p:spPr>
      </p:sp>
      <p:sp>
        <p:nvSpPr>
          <p:cNvPr id="23" name="p07-eg3-t"/>
          <p:cNvSpPr/>
          <p:nvPr/>
        </p:nvSpPr>
        <p:spPr>
          <a:xfrm>
            <a:off x="8280400" y="4292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整数参数写入非数字</a:t>
            </a:r>
            <a:endParaRPr lang="en-US" sz="1050" dirty="0"/>
          </a:p>
        </p:txBody>
      </p:sp>
      <p:sp>
        <p:nvSpPr>
          <p:cNvPr id="24" name="p07-eg3-b"/>
          <p:cNvSpPr/>
          <p:nvPr/>
        </p:nvSpPr>
        <p:spPr>
          <a:xfrm>
            <a:off x="8280400" y="4597400"/>
            <a:ext cx="3048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求解超时等参数要求整数，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非数字直接报错不落库。</a:t>
            </a:r>
            <a:endParaRPr lang="en-US" sz="950" dirty="0"/>
          </a:p>
        </p:txBody>
      </p:sp>
      <p:sp>
        <p:nvSpPr>
          <p:cNvPr id="25" name="p07-gate"/>
          <p:cNvSpPr/>
          <p:nvPr/>
        </p:nvSpPr>
        <p:spPr>
          <a:xfrm>
            <a:off x="685800" y="5486400"/>
            <a:ext cx="10820400" cy="6350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26" name="p07-gate-text"/>
          <p:cNvSpPr/>
          <p:nvPr/>
        </p:nvSpPr>
        <p:spPr>
          <a:xfrm>
            <a:off x="939800" y="5613400"/>
            <a:ext cx="1031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如果一个约束算错了会导致方案不可行，它就必须写在代码里，而不是交给模型判断。</a:t>
            </a:r>
            <a:endParaRPr lang="en-US" sz="1400" dirty="0"/>
          </a:p>
        </p:txBody>
      </p:sp>
      <p:sp>
        <p:nvSpPr>
          <p:cNvPr id="27" name="p07-source"/>
          <p:cNvSpPr/>
          <p:nvPr/>
        </p:nvSpPr>
        <p:spPr>
          <a:xfrm>
            <a:off x="685800" y="6299200"/>
            <a:ext cx="965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三类边界情况分别由车辆类型配置校验、地形矩阵校验、参数类型校验拦截；自检脚本 check_api.py / check_solver.py 覆盖</a:t>
            </a:r>
            <a:endParaRPr lang="en-US" sz="800" dirty="0"/>
          </a:p>
        </p:txBody>
      </p:sp>
      <p:sp>
        <p:nvSpPr>
          <p:cNvPr id="28" name="p07-page"/>
          <p:cNvSpPr/>
          <p:nvPr/>
        </p:nvSpPr>
        <p:spPr>
          <a:xfrm>
            <a:off x="11074400" y="62992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-to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08-code"/>
          <p:cNvSpPr/>
          <p:nvPr/>
        </p:nvSpPr>
        <p:spPr>
          <a:xfrm>
            <a:off x="685800" y="431800"/>
            <a:ext cx="711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验证结果</a:t>
            </a:r>
            <a:endParaRPr lang="en-US" sz="1000" dirty="0"/>
          </a:p>
        </p:txBody>
      </p:sp>
      <p:sp>
        <p:nvSpPr>
          <p:cNvPr id="4" name="p08-title"/>
          <p:cNvSpPr/>
          <p:nvPr/>
        </p:nvSpPr>
        <p:spPr>
          <a:xfrm>
            <a:off x="685800" y="7366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279 项自检全部通过，且可以重复执行</a:t>
            </a:r>
            <a:endParaRPr lang="en-US" sz="2600" dirty="0"/>
          </a:p>
        </p:txBody>
      </p:sp>
      <p:sp>
        <p:nvSpPr>
          <p:cNvPr id="5" name="p08-k1"/>
          <p:cNvSpPr/>
          <p:nvPr/>
        </p:nvSpPr>
        <p:spPr>
          <a:xfrm>
            <a:off x="685800" y="1498600"/>
            <a:ext cx="2540000" cy="13970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6" name="p08-k1-n"/>
          <p:cNvSpPr/>
          <p:nvPr/>
        </p:nvSpPr>
        <p:spPr>
          <a:xfrm>
            <a:off x="914400" y="1701800"/>
            <a:ext cx="2082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</a:t>
            </a:r>
            <a:endParaRPr lang="en-US" sz="4000" dirty="0"/>
          </a:p>
        </p:txBody>
      </p:sp>
      <p:sp>
        <p:nvSpPr>
          <p:cNvPr id="7" name="p08-k1-l"/>
          <p:cNvSpPr/>
          <p:nvPr/>
        </p:nvSpPr>
        <p:spPr>
          <a:xfrm>
            <a:off x="914400" y="2311400"/>
            <a:ext cx="208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后端断言 / 6 个脚本</a:t>
            </a:r>
            <a:endParaRPr lang="en-US" sz="950" dirty="0"/>
          </a:p>
        </p:txBody>
      </p:sp>
      <p:sp>
        <p:nvSpPr>
          <p:cNvPr id="8" name="p08-k1-note"/>
          <p:cNvSpPr/>
          <p:nvPr/>
        </p:nvSpPr>
        <p:spPr>
          <a:xfrm>
            <a:off x="914400" y="2565400"/>
            <a:ext cx="208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EB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 · 权限 · CRUD · 求解</a:t>
            </a:r>
            <a:endParaRPr lang="en-US" sz="850" dirty="0"/>
          </a:p>
        </p:txBody>
      </p:sp>
      <p:sp>
        <p:nvSpPr>
          <p:cNvPr id="9" name="p08-k2"/>
          <p:cNvSpPr/>
          <p:nvPr/>
        </p:nvSpPr>
        <p:spPr>
          <a:xfrm>
            <a:off x="3429000" y="1498600"/>
            <a:ext cx="25400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0" name="p08-k2-n"/>
          <p:cNvSpPr/>
          <p:nvPr/>
        </p:nvSpPr>
        <p:spPr>
          <a:xfrm>
            <a:off x="3657600" y="1701800"/>
            <a:ext cx="2082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4000" dirty="0"/>
          </a:p>
        </p:txBody>
      </p:sp>
      <p:sp>
        <p:nvSpPr>
          <p:cNvPr id="11" name="p08-k2-l"/>
          <p:cNvSpPr/>
          <p:nvPr/>
        </p:nvSpPr>
        <p:spPr>
          <a:xfrm>
            <a:off x="3657600" y="2311400"/>
            <a:ext cx="208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前端断言 / 5 个脚本</a:t>
            </a:r>
            <a:endParaRPr lang="en-US" sz="950" dirty="0"/>
          </a:p>
        </p:txBody>
      </p:sp>
      <p:sp>
        <p:nvSpPr>
          <p:cNvPr id="12" name="p08-k2-note"/>
          <p:cNvSpPr/>
          <p:nvPr/>
        </p:nvSpPr>
        <p:spPr>
          <a:xfrm>
            <a:off x="3657600" y="2565400"/>
            <a:ext cx="208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 驱动真实浏览器</a:t>
            </a:r>
            <a:endParaRPr lang="en-US" sz="850" dirty="0"/>
          </a:p>
        </p:txBody>
      </p:sp>
      <p:sp>
        <p:nvSpPr>
          <p:cNvPr id="13" name="p08-k3"/>
          <p:cNvSpPr/>
          <p:nvPr/>
        </p:nvSpPr>
        <p:spPr>
          <a:xfrm>
            <a:off x="6172200" y="1498600"/>
            <a:ext cx="25400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4" name="p08-k3-n"/>
          <p:cNvSpPr/>
          <p:nvPr/>
        </p:nvSpPr>
        <p:spPr>
          <a:xfrm>
            <a:off x="6400800" y="1701800"/>
            <a:ext cx="2082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p08-k3-l"/>
          <p:cNvSpPr/>
          <p:nvPr/>
        </p:nvSpPr>
        <p:spPr>
          <a:xfrm>
            <a:off x="6400800" y="2311400"/>
            <a:ext cx="208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浏览器控制台错误</a:t>
            </a:r>
            <a:endParaRPr lang="en-US" sz="950" dirty="0"/>
          </a:p>
        </p:txBody>
      </p:sp>
      <p:sp>
        <p:nvSpPr>
          <p:cNvPr id="16" name="p08-k3-note"/>
          <p:cNvSpPr/>
          <p:nvPr/>
        </p:nvSpPr>
        <p:spPr>
          <a:xfrm>
            <a:off x="6400800" y="2565400"/>
            <a:ext cx="208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每个前端脚本都会收集</a:t>
            </a:r>
            <a:endParaRPr lang="en-US" sz="850" dirty="0"/>
          </a:p>
        </p:txBody>
      </p:sp>
      <p:sp>
        <p:nvSpPr>
          <p:cNvPr id="17" name="p08-k4"/>
          <p:cNvSpPr/>
          <p:nvPr/>
        </p:nvSpPr>
        <p:spPr>
          <a:xfrm>
            <a:off x="8915400" y="1498600"/>
            <a:ext cx="2590800" cy="1397000"/>
          </a:xfrm>
          <a:prstGeom prst="rect">
            <a:avLst/>
          </a:prstGeom>
          <a:solidFill>
            <a:srgbClr val="FFD400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8" name="p08-k4-n"/>
          <p:cNvSpPr/>
          <p:nvPr/>
        </p:nvSpPr>
        <p:spPr>
          <a:xfrm>
            <a:off x="9144000" y="1701800"/>
            <a:ext cx="2133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遍</a:t>
            </a:r>
            <a:endParaRPr lang="en-US" sz="3400" dirty="0"/>
          </a:p>
        </p:txBody>
      </p:sp>
      <p:sp>
        <p:nvSpPr>
          <p:cNvPr id="19" name="p08-k4-l"/>
          <p:cNvSpPr/>
          <p:nvPr/>
        </p:nvSpPr>
        <p:spPr>
          <a:xfrm>
            <a:off x="9144000" y="2311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连续跑两遍结果一致</a:t>
            </a:r>
            <a:endParaRPr lang="en-US" sz="950" dirty="0"/>
          </a:p>
        </p:txBody>
      </p:sp>
      <p:sp>
        <p:nvSpPr>
          <p:cNvPr id="20" name="p08-k4-note"/>
          <p:cNvSpPr/>
          <p:nvPr/>
        </p:nvSpPr>
        <p:spPr>
          <a:xfrm>
            <a:off x="9144000" y="2565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自检脚本是幂等的</a:t>
            </a:r>
            <a:endParaRPr lang="en-US" sz="850" dirty="0"/>
          </a:p>
        </p:txBody>
      </p:sp>
      <p:sp>
        <p:nvSpPr>
          <p:cNvPr id="21" name="p08-tbl-head"/>
          <p:cNvSpPr/>
          <p:nvPr/>
        </p:nvSpPr>
        <p:spPr>
          <a:xfrm>
            <a:off x="685800" y="3149600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6 个脚本的覆盖范围</a:t>
            </a:r>
            <a:endParaRPr lang="en-US" sz="900" dirty="0"/>
          </a:p>
        </p:txBody>
      </p:sp>
      <p:graphicFrame>
        <p:nvGraphicFramePr>
          <p:cNvPr id="9" name="p08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454400"/>
          <a:ext cx="10820400" cy="1879600"/>
        </p:xfrm>
        <a:graphic>
          <a:graphicData uri="http://schemas.openxmlformats.org/drawingml/2006/table">
            <a:tbl>
              <a:tblPr/>
              <a:tblGrid>
                <a:gridCol w="3246120"/>
                <a:gridCol w="1298448"/>
                <a:gridCol w="6275832"/>
              </a:tblGrid>
              <a:tr h="375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脚本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断言数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覆盖内容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</a:tr>
              <a:tr h="300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check_api.py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认证、权限并集、停用角色失效、CRUD、删除保护、审计只追加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check_demand.py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货量维护与幂等生成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check_solver.py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条硬约束独立复核（可加 --cp-sat 验证精确求解）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check_scheduling.py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确认、下发幂等、重排次数上限、调度报告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check_reports.py + check_rules_monitor.py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类报表口径、规则版本发布回滚、监控预警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p08-source"/>
          <p:cNvSpPr/>
          <p:nvPr/>
        </p:nvSpPr>
        <p:spPr>
          <a:xfrm>
            <a:off x="685800" y="5740400"/>
            <a:ext cx="1082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前端脚本：verify-ui.mjs（30）· verify-edit-save.mjs（15）· verify-scheduling.mjs（18）· verify-reports.mjs（14）· verify-rules-monitor.mjs（29）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compile-check.mjs 检查 40 个 .vue 组件的模板编译，check-form-fields.mjs 静态检查禁用字段是否已回填。</a:t>
            </a:r>
            <a:endParaRPr lang="en-US" sz="850" dirty="0"/>
          </a:p>
        </p:txBody>
      </p:sp>
      <p:sp>
        <p:nvSpPr>
          <p:cNvPr id="24" name="p08-page"/>
          <p:cNvSpPr/>
          <p:nvPr/>
        </p:nvSpPr>
        <p:spPr>
          <a:xfrm>
            <a:off x="11074400" y="63500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-to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p09-code"/>
          <p:cNvSpPr/>
          <p:nvPr/>
        </p:nvSpPr>
        <p:spPr>
          <a:xfrm>
            <a:off x="685800" y="431800"/>
            <a:ext cx="711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边界与已知限制</a:t>
            </a:r>
            <a:endParaRPr lang="en-US" sz="1000" dirty="0"/>
          </a:p>
        </p:txBody>
      </p:sp>
      <p:sp>
        <p:nvSpPr>
          <p:cNvPr id="4" name="p09-title"/>
          <p:cNvSpPr/>
          <p:nvPr/>
        </p:nvSpPr>
        <p:spPr>
          <a:xfrm>
            <a:off x="685800" y="7366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大模块：6 个完整落地，3 个如实标注</a:t>
            </a:r>
            <a:endParaRPr lang="en-US" sz="2600" dirty="0"/>
          </a:p>
        </p:txBody>
      </p:sp>
      <p:sp>
        <p:nvSpPr>
          <p:cNvPr id="5" name="p09-done"/>
          <p:cNvSpPr/>
          <p:nvPr/>
        </p:nvSpPr>
        <p:spPr>
          <a:xfrm>
            <a:off x="685800" y="1524000"/>
            <a:ext cx="5257800" cy="30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6" name="p09-done-head"/>
          <p:cNvSpPr/>
          <p:nvPr/>
        </p:nvSpPr>
        <p:spPr>
          <a:xfrm>
            <a:off x="685800" y="1524000"/>
            <a:ext cx="5257800" cy="3556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7" name="p09-done-label"/>
          <p:cNvSpPr/>
          <p:nvPr/>
        </p:nvSpPr>
        <p:spPr>
          <a:xfrm>
            <a:off x="838200" y="1587500"/>
            <a:ext cx="495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完整落地 / 6 个模块</a:t>
            </a:r>
            <a:endParaRPr lang="en-US" sz="900" dirty="0"/>
          </a:p>
        </p:txBody>
      </p:sp>
      <p:sp>
        <p:nvSpPr>
          <p:cNvPr id="8" name="p09-done-list"/>
          <p:cNvSpPr/>
          <p:nvPr/>
        </p:nvSpPr>
        <p:spPr>
          <a:xfrm>
            <a:off x="863600" y="2057400"/>
            <a:ext cx="49022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系统管理 —— 用户/角色/权限/字典/参数/附件/日志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基础数据与规则配置中心 —— 含规则版本发布与回滚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车辆分配管理 —— 可出勤车辆/配送需求/分配结果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智能调度 Agent —— 四方案比选/人工确认/幂等下发/异常重排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报表与看板 —— 5 类报表，ECharts 渲染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 监控预警与异常处理 —— 真实指标 + 按数据推导的预警</a:t>
            </a:r>
            <a:endParaRPr lang="en-US" sz="1000" dirty="0"/>
          </a:p>
        </p:txBody>
      </p:sp>
      <p:sp>
        <p:nvSpPr>
          <p:cNvPr id="9" name="p09-gap"/>
          <p:cNvSpPr/>
          <p:nvPr/>
        </p:nvSpPr>
        <p:spPr>
          <a:xfrm>
            <a:off x="6248400" y="1524000"/>
            <a:ext cx="5257800" cy="30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4B31"/>
            </a:solidFill>
            <a:prstDash val="solid"/>
          </a:ln>
        </p:spPr>
      </p:sp>
      <p:sp>
        <p:nvSpPr>
          <p:cNvPr id="10" name="p09-gap-head"/>
          <p:cNvSpPr/>
          <p:nvPr/>
        </p:nvSpPr>
        <p:spPr>
          <a:xfrm>
            <a:off x="6248400" y="1524000"/>
            <a:ext cx="5257800" cy="3556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1" name="p09-gap-label"/>
          <p:cNvSpPr/>
          <p:nvPr/>
        </p:nvSpPr>
        <p:spPr>
          <a:xfrm>
            <a:off x="6400800" y="1587500"/>
            <a:ext cx="495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部分完成 / 3 个模块 —— 已如实标注</a:t>
            </a:r>
            <a:endParaRPr lang="en-US" sz="900" dirty="0"/>
          </a:p>
        </p:txBody>
      </p:sp>
      <p:sp>
        <p:nvSpPr>
          <p:cNvPr id="12" name="p09-gap-1t"/>
          <p:cNvSpPr/>
          <p:nvPr/>
        </p:nvSpPr>
        <p:spPr>
          <a:xfrm>
            <a:off x="6426200" y="2032000"/>
            <a:ext cx="490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 移动端 / 司机端</a:t>
            </a:r>
            <a:endParaRPr lang="en-US" sz="1000" dirty="0"/>
          </a:p>
        </p:txBody>
      </p:sp>
      <p:sp>
        <p:nvSpPr>
          <p:cNvPr id="13" name="p09-gap-1b"/>
          <p:cNvSpPr/>
          <p:nvPr/>
        </p:nvSpPr>
        <p:spPr>
          <a:xfrm>
            <a:off x="6426200" y="2286000"/>
            <a:ext cx="4902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需求里定位为独立端，本机无法演示。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后端接口已就绪，未建独立前端工程。</a:t>
            </a:r>
            <a:endParaRPr lang="en-US" sz="950" dirty="0"/>
          </a:p>
        </p:txBody>
      </p:sp>
      <p:sp>
        <p:nvSpPr>
          <p:cNvPr id="14" name="p09-gap-2t"/>
          <p:cNvSpPr/>
          <p:nvPr/>
        </p:nvSpPr>
        <p:spPr>
          <a:xfrm>
            <a:off x="6426200" y="2844800"/>
            <a:ext cx="490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 接口集成与数据交换</a:t>
            </a:r>
            <a:endParaRPr lang="en-US" sz="1000" dirty="0"/>
          </a:p>
        </p:txBody>
      </p:sp>
      <p:sp>
        <p:nvSpPr>
          <p:cNvPr id="15" name="p09-gap-2b"/>
          <p:cNvSpPr/>
          <p:nvPr/>
        </p:nvSpPr>
        <p:spPr>
          <a:xfrm>
            <a:off x="6426200" y="3098800"/>
            <a:ext cx="4902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TMS/OMS/WMS/ERP/地图/GPS 全部未真实连通。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页面标 not_connected，并说明本地已落地哪些链路。</a:t>
            </a:r>
            <a:endParaRPr lang="en-US" sz="950" dirty="0"/>
          </a:p>
        </p:txBody>
      </p:sp>
      <p:sp>
        <p:nvSpPr>
          <p:cNvPr id="16" name="p09-gap-3t"/>
          <p:cNvSpPr/>
          <p:nvPr/>
        </p:nvSpPr>
        <p:spPr>
          <a:xfrm>
            <a:off x="6426200" y="3657600"/>
            <a:ext cx="490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 数据与算法平台</a:t>
            </a:r>
            <a:endParaRPr lang="en-US" sz="1000" dirty="0"/>
          </a:p>
        </p:txBody>
      </p:sp>
      <p:sp>
        <p:nvSpPr>
          <p:cNvPr id="17" name="p09-gap-3b"/>
          <p:cNvSpPr/>
          <p:nvPr/>
        </p:nvSpPr>
        <p:spPr>
          <a:xfrm>
            <a:off x="6426200" y="3911600"/>
            <a:ext cx="4902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求解器与规则中心已实现；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向量库与案例沉淀为规划项，未实现。</a:t>
            </a:r>
            <a:endParaRPr lang="en-US" sz="950" dirty="0"/>
          </a:p>
        </p:txBody>
      </p:sp>
      <p:sp>
        <p:nvSpPr>
          <p:cNvPr id="18" name="p09-extra-head"/>
          <p:cNvSpPr/>
          <p:nvPr/>
        </p:nvSpPr>
        <p:spPr>
          <a:xfrm>
            <a:off x="685800" y="4775200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另外四项主动说明的限制</a:t>
            </a:r>
            <a:endParaRPr lang="en-US" sz="900" dirty="0"/>
          </a:p>
        </p:txBody>
      </p:sp>
      <p:sp>
        <p:nvSpPr>
          <p:cNvPr id="19" name="p09-extra"/>
          <p:cNvSpPr/>
          <p:nvPr/>
        </p:nvSpPr>
        <p:spPr>
          <a:xfrm>
            <a:off x="685800" y="5054600"/>
            <a:ext cx="108204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附件管理只登记元信息，不做真实文件落盘  ·  API QPS 与 P95 延迟需要 Prometheus 等外部组件，未引入，因此页面不展示这些数字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成本是相对系数（四米二 1.0 / 大包 0.85 / 小包 0.5），只用于方案间横向比较，不是真实金额  ·  路径规划用「一趟最多 8 个门店」简化，未接入真实地图</a:t>
            </a:r>
            <a:endParaRPr lang="en-US" sz="950" dirty="0"/>
          </a:p>
        </p:txBody>
      </p:sp>
      <p:sp>
        <p:nvSpPr>
          <p:cNvPr id="20" name="p09-gate"/>
          <p:cNvSpPr/>
          <p:nvPr/>
        </p:nvSpPr>
        <p:spPr>
          <a:xfrm>
            <a:off x="685800" y="6045200"/>
            <a:ext cx="10820400" cy="4064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1" name="p09-gate-text"/>
          <p:cNvSpPr/>
          <p:nvPr/>
        </p:nvSpPr>
        <p:spPr>
          <a:xfrm>
            <a:off x="939800" y="6070600"/>
            <a:ext cx="1031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编造的监控数据，比没有监控更危险。</a:t>
            </a:r>
            <a:endParaRPr lang="en-US" sz="1400" dirty="0"/>
          </a:p>
        </p:txBody>
      </p:sp>
      <p:sp>
        <p:nvSpPr>
          <p:cNvPr id="22" name="p09-page"/>
          <p:cNvSpPr/>
          <p:nvPr/>
        </p:nvSpPr>
        <p:spPr>
          <a:xfrm>
            <a:off x="11074400" y="3810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-to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10-code"/>
          <p:cNvSpPr/>
          <p:nvPr/>
        </p:nvSpPr>
        <p:spPr>
          <a:xfrm>
            <a:off x="685800" y="431800"/>
            <a:ext cx="711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系统架构</a:t>
            </a:r>
            <a:endParaRPr lang="en-US" sz="1000" dirty="0"/>
          </a:p>
        </p:txBody>
      </p:sp>
      <p:sp>
        <p:nvSpPr>
          <p:cNvPr id="4" name="p10-title"/>
          <p:cNvSpPr/>
          <p:nvPr/>
        </p:nvSpPr>
        <p:spPr>
          <a:xfrm>
            <a:off x="685800" y="7366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四层架构，规则集中在服务层</a:t>
            </a:r>
            <a:endParaRPr lang="en-US" sz="2600" dirty="0"/>
          </a:p>
        </p:txBody>
      </p:sp>
      <p:sp>
        <p:nvSpPr>
          <p:cNvPr id="5" name="p10-t1"/>
          <p:cNvSpPr/>
          <p:nvPr/>
        </p:nvSpPr>
        <p:spPr>
          <a:xfrm>
            <a:off x="685800" y="1549400"/>
            <a:ext cx="10820400" cy="939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6" name="p10-t1-tag"/>
          <p:cNvSpPr/>
          <p:nvPr/>
        </p:nvSpPr>
        <p:spPr>
          <a:xfrm>
            <a:off x="685800" y="1549400"/>
            <a:ext cx="1905000" cy="9398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7" name="p10-t1-tag-text"/>
          <p:cNvSpPr/>
          <p:nvPr/>
        </p:nvSpPr>
        <p:spPr>
          <a:xfrm>
            <a:off x="838200" y="1549400"/>
            <a:ext cx="16002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1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100" dirty="0"/>
          </a:p>
        </p:txBody>
      </p:sp>
      <p:sp>
        <p:nvSpPr>
          <p:cNvPr id="8" name="p10-t1-body"/>
          <p:cNvSpPr/>
          <p:nvPr/>
        </p:nvSpPr>
        <p:spPr>
          <a:xfrm>
            <a:off x="2819400" y="1701800"/>
            <a:ext cx="850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3.5 + Vite 6 + Pinia + Element Plus + ECharts    ·    28 个页面视图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菜单与按钮按服务端返回的权限动态裁剪；前端裁剪只是体验优化，最终防线在后端。</a:t>
            </a:r>
            <a:endParaRPr lang="en-US" sz="1000" dirty="0"/>
          </a:p>
        </p:txBody>
      </p:sp>
      <p:sp>
        <p:nvSpPr>
          <p:cNvPr id="9" name="p10-t2"/>
          <p:cNvSpPr/>
          <p:nvPr/>
        </p:nvSpPr>
        <p:spPr>
          <a:xfrm>
            <a:off x="685800" y="2641600"/>
            <a:ext cx="10820400" cy="939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0" name="p10-t2-tag"/>
          <p:cNvSpPr/>
          <p:nvPr/>
        </p:nvSpPr>
        <p:spPr>
          <a:xfrm>
            <a:off x="685800" y="2641600"/>
            <a:ext cx="1905000" cy="9398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1" name="p10-t2-tag-text"/>
          <p:cNvSpPr/>
          <p:nvPr/>
        </p:nvSpPr>
        <p:spPr>
          <a:xfrm>
            <a:off x="838200" y="2641600"/>
            <a:ext cx="16002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2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endParaRPr lang="en-US" sz="1100" dirty="0"/>
          </a:p>
        </p:txBody>
      </p:sp>
      <p:sp>
        <p:nvSpPr>
          <p:cNvPr id="12" name="p10-t2-body"/>
          <p:cNvSpPr/>
          <p:nvPr/>
        </p:nvSpPr>
        <p:spPr>
          <a:xfrm>
            <a:off x="2819400" y="2794000"/>
            <a:ext cx="850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Pydantic v2 + JWT(HS256) + bcrypt    ·    require_permission() 统一鉴权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有效权限 = 所有启用角色权限的并集，且权限点自身也须启用；用户无角色则权限为空集。</a:t>
            </a:r>
            <a:endParaRPr lang="en-US" sz="1000" dirty="0"/>
          </a:p>
        </p:txBody>
      </p:sp>
      <p:sp>
        <p:nvSpPr>
          <p:cNvPr id="13" name="p10-t3"/>
          <p:cNvSpPr/>
          <p:nvPr/>
        </p:nvSpPr>
        <p:spPr>
          <a:xfrm>
            <a:off x="685800" y="3733800"/>
            <a:ext cx="10820400" cy="939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4" name="p10-t3-tag"/>
          <p:cNvSpPr/>
          <p:nvPr/>
        </p:nvSpPr>
        <p:spPr>
          <a:xfrm>
            <a:off x="685800" y="3733800"/>
            <a:ext cx="1905000" cy="9398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5" name="p10-t3-tag-text"/>
          <p:cNvSpPr/>
          <p:nvPr/>
        </p:nvSpPr>
        <p:spPr>
          <a:xfrm>
            <a:off x="838200" y="3733800"/>
            <a:ext cx="16002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3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100" dirty="0"/>
          </a:p>
        </p:txBody>
      </p:sp>
      <p:sp>
        <p:nvSpPr>
          <p:cNvPr id="16" name="p10-t3-body"/>
          <p:cNvSpPr/>
          <p:nvPr/>
        </p:nvSpPr>
        <p:spPr>
          <a:xfrm>
            <a:off x="2819400" y="3886200"/>
            <a:ext cx="850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SOLVER 三阶段求解  ·  RBAC 权限并集  ·  AUDIT 只追加  ·  RULE 版本治理  ·  REPORT 报表口径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业务规则全部集中在这一层，接口层不重复判断，避免规则散落导致不一致。</a:t>
            </a:r>
            <a:endParaRPr lang="en-US" sz="1000" dirty="0"/>
          </a:p>
        </p:txBody>
      </p:sp>
      <p:sp>
        <p:nvSpPr>
          <p:cNvPr id="17" name="p10-t4"/>
          <p:cNvSpPr/>
          <p:nvPr/>
        </p:nvSpPr>
        <p:spPr>
          <a:xfrm>
            <a:off x="685800" y="4826000"/>
            <a:ext cx="10820400" cy="939800"/>
          </a:xfrm>
          <a:prstGeom prst="rect">
            <a:avLst/>
          </a:prstGeom>
          <a:solidFill>
            <a:srgbClr val="FFD400"/>
          </a:solidFill>
          <a:ln w="19050">
            <a:solidFill>
              <a:srgbClr val="202224"/>
            </a:solidFill>
            <a:prstDash val="solid"/>
          </a:ln>
        </p:spPr>
      </p:sp>
      <p:sp>
        <p:nvSpPr>
          <p:cNvPr id="18" name="p10-t4-tag"/>
          <p:cNvSpPr/>
          <p:nvPr/>
        </p:nvSpPr>
        <p:spPr>
          <a:xfrm>
            <a:off x="685800" y="4826000"/>
            <a:ext cx="1905000" cy="9398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19" name="p10-t4-tag-text"/>
          <p:cNvSpPr/>
          <p:nvPr/>
        </p:nvSpPr>
        <p:spPr>
          <a:xfrm>
            <a:off x="838200" y="4826000"/>
            <a:ext cx="16002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4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20" name="p10-t4-body"/>
          <p:cNvSpPr/>
          <p:nvPr/>
        </p:nvSpPr>
        <p:spPr>
          <a:xfrm>
            <a:off x="2819400" y="4978400"/>
            <a:ext cx="850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 2.0 + MySQL 8.0    ·    28 张表    ·    未使用任何 MySQL 方言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审计日志四层保证只追加：代码层只 INSERT、接口层只有 GET、模型层 actor 可空、数据层冗余快照。</a:t>
            </a:r>
            <a:endParaRPr lang="en-US" sz="1000" dirty="0"/>
          </a:p>
        </p:txBody>
      </p:sp>
      <p:sp>
        <p:nvSpPr>
          <p:cNvPr id="21" name="p10-source"/>
          <p:cNvSpPr/>
          <p:nvPr/>
        </p:nvSpPr>
        <p:spPr>
          <a:xfrm>
            <a:off x="685800" y="6299200"/>
            <a:ext cx="1082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数据库选型说明：文档推荐 PostgreSQL，本机无 PG 且 Docker 守护进程未启动，改用 MySQL；换 PG 只需改 config.py 的 drivername 一行。</a:t>
            </a:r>
            <a:endParaRPr lang="en-US" sz="800" dirty="0"/>
          </a:p>
        </p:txBody>
      </p:sp>
      <p:sp>
        <p:nvSpPr>
          <p:cNvPr id="22" name="p10-page"/>
          <p:cNvSpPr/>
          <p:nvPr/>
        </p:nvSpPr>
        <p:spPr>
          <a:xfrm>
            <a:off x="11074400" y="62992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-to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11-code"/>
          <p:cNvSpPr/>
          <p:nvPr/>
        </p:nvSpPr>
        <p:spPr>
          <a:xfrm>
            <a:off x="685800" y="431800"/>
            <a:ext cx="711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关键取舍与预设问答</a:t>
            </a:r>
            <a:endParaRPr lang="en-US" sz="1000" dirty="0"/>
          </a:p>
        </p:txBody>
      </p:sp>
      <p:sp>
        <p:nvSpPr>
          <p:cNvPr id="4" name="p11-title"/>
          <p:cNvSpPr/>
          <p:nvPr/>
        </p:nvSpPr>
        <p:spPr>
          <a:xfrm>
            <a:off x="685800" y="7366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2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每个偏离文档的决定，都有可核对的理由</a:t>
            </a:r>
            <a:endParaRPr lang="en-US" sz="2600" dirty="0"/>
          </a:p>
        </p:txBody>
      </p:sp>
      <p:graphicFrame>
        <p:nvGraphicFramePr>
          <p:cNvPr id="12" name="p11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98600"/>
          <a:ext cx="10820400" cy="4191000"/>
        </p:xfrm>
        <a:graphic>
          <a:graphicData uri="http://schemas.openxmlformats.org/drawingml/2006/table">
            <a:tbl>
              <a:tblPr/>
              <a:tblGrid>
                <a:gridCol w="2813304"/>
                <a:gridCol w="4003548"/>
                <a:gridCol w="4003548"/>
              </a:tblGrid>
              <a:tr h="670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可能的提问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我们的回答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可核对的依据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4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为什么用 MySQL，文档写的是 PostgreSQL？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本机没有 PG，Docker 守护进程也没起。代码里没有使用任何 MySQL 方言。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 PG 只需改 config.py 的 drivername 一行，模型无需改动。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到底用在哪？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只做方案解释与报告生成。硬约束绝不交给 LLM，算错也不影响方案可行性。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LangGraph 节点已就位；LLM 不可用时降级为规则引擎输出。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允许拆单是不是在回避难点？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恰恰相反。拆单把问题变成「货量单元 → 趟次槽位」的分配问题，建模更难。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2290 超过 800 是物理约束，不拆就是 25% 覆盖率。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测试是怎么做的？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 6 个脚本 173 项，前端 5 个脚本 106 项，共 279 项，全部可重复执行。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2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前端用 Playwright 驱动本机 Chrome，同时收集控制台报错。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11-gate"/>
          <p:cNvSpPr/>
          <p:nvPr/>
        </p:nvSpPr>
        <p:spPr>
          <a:xfrm>
            <a:off x="685800" y="5867400"/>
            <a:ext cx="10820400" cy="558800"/>
          </a:xfrm>
          <a:prstGeom prst="rect">
            <a:avLst/>
          </a:prstGeom>
          <a:solidFill>
            <a:srgbClr val="202224"/>
          </a:solidFill>
          <a:ln w="12700">
            <a:solidFill>
              <a:srgbClr val="202224"/>
            </a:solidFill>
            <a:prstDash val="solid"/>
          </a:ln>
        </p:spPr>
      </p:sp>
      <p:sp>
        <p:nvSpPr>
          <p:cNvPr id="7" name="p11-gate-text"/>
          <p:cNvSpPr/>
          <p:nvPr/>
        </p:nvSpPr>
        <p:spPr>
          <a:xfrm>
            <a:off x="939800" y="5943600"/>
            <a:ext cx="1031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原则：偏离文档可以，但每一个偏离都要能说清原因，并且能当场核对。</a:t>
            </a:r>
            <a:endParaRPr lang="en-US" sz="1300" dirty="0"/>
          </a:p>
        </p:txBody>
      </p:sp>
      <p:sp>
        <p:nvSpPr>
          <p:cNvPr id="8" name="p11-source"/>
          <p:cNvSpPr/>
          <p:nvPr/>
        </p:nvSpPr>
        <p:spPr>
          <a:xfrm>
            <a:off x="685800" y="6527800"/>
            <a:ext cx="1082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其余预备问题（成本口径、覆盖率为何 99.8% 而非 100%、哪些没做）见答辩稿附录</a:t>
            </a:r>
            <a:endParaRPr lang="en-US" sz="800" dirty="0"/>
          </a:p>
        </p:txBody>
      </p:sp>
      <p:sp>
        <p:nvSpPr>
          <p:cNvPr id="9" name="p11-page"/>
          <p:cNvSpPr/>
          <p:nvPr/>
        </p:nvSpPr>
        <p:spPr>
          <a:xfrm>
            <a:off x="11074400" y="3810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-to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p12-code"/>
          <p:cNvSpPr/>
          <p:nvPr/>
        </p:nvSpPr>
        <p:spPr>
          <a:xfrm>
            <a:off x="685800" y="508000"/>
            <a:ext cx="711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总结</a:t>
            </a:r>
            <a:endParaRPr lang="en-US" sz="1000" dirty="0"/>
          </a:p>
        </p:txBody>
      </p:sp>
      <p:sp>
        <p:nvSpPr>
          <p:cNvPr id="4" name="p12-title"/>
          <p:cNvSpPr/>
          <p:nvPr/>
        </p:nvSpPr>
        <p:spPr>
          <a:xfrm>
            <a:off x="685800" y="8382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把调度经验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做成可执行的规则</a:t>
            </a:r>
            <a:endParaRPr lang="en-US" sz="3800" dirty="0"/>
          </a:p>
        </p:txBody>
      </p:sp>
      <p:sp>
        <p:nvSpPr>
          <p:cNvPr id="5" name="p12-sub"/>
          <p:cNvSpPr/>
          <p:nvPr/>
        </p:nvSpPr>
        <p:spPr>
          <a:xfrm>
            <a:off x="685800" y="2260600"/>
            <a:ext cx="6223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 —— 方案能直接下发派车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AEB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 —— 每套方案带评分与推荐理由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AEB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 —— 下发记录与审计日志只追加</a:t>
            </a:r>
            <a:endParaRPr lang="en-US" sz="1250" dirty="0"/>
          </a:p>
        </p:txBody>
      </p:sp>
      <p:sp>
        <p:nvSpPr>
          <p:cNvPr id="6" name="p12-k1"/>
          <p:cNvSpPr/>
          <p:nvPr/>
        </p:nvSpPr>
        <p:spPr>
          <a:xfrm>
            <a:off x="7569200" y="838200"/>
            <a:ext cx="1879600" cy="11684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7" name="p12-k1-n"/>
          <p:cNvSpPr/>
          <p:nvPr/>
        </p:nvSpPr>
        <p:spPr>
          <a:xfrm>
            <a:off x="7747000" y="990600"/>
            <a:ext cx="1549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2400" dirty="0"/>
          </a:p>
        </p:txBody>
      </p:sp>
      <p:sp>
        <p:nvSpPr>
          <p:cNvPr id="8" name="p12-k1-l"/>
          <p:cNvSpPr/>
          <p:nvPr/>
        </p:nvSpPr>
        <p:spPr>
          <a:xfrm>
            <a:off x="7747000" y="1574800"/>
            <a:ext cx="154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货量覆盖率</a:t>
            </a:r>
            <a:endParaRPr lang="en-US" sz="900" dirty="0"/>
          </a:p>
        </p:txBody>
      </p:sp>
      <p:sp>
        <p:nvSpPr>
          <p:cNvPr id="9" name="p12-k2"/>
          <p:cNvSpPr/>
          <p:nvPr/>
        </p:nvSpPr>
        <p:spPr>
          <a:xfrm>
            <a:off x="9626600" y="838200"/>
            <a:ext cx="18796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p12-k2-n"/>
          <p:cNvSpPr/>
          <p:nvPr/>
        </p:nvSpPr>
        <p:spPr>
          <a:xfrm>
            <a:off x="9804400" y="990600"/>
            <a:ext cx="1549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</a:t>
            </a:r>
            <a:endParaRPr lang="en-US" sz="2400" dirty="0"/>
          </a:p>
        </p:txBody>
      </p:sp>
      <p:sp>
        <p:nvSpPr>
          <p:cNvPr id="11" name="p12-k2-l"/>
          <p:cNvSpPr/>
          <p:nvPr/>
        </p:nvSpPr>
        <p:spPr>
          <a:xfrm>
            <a:off x="9804400" y="1574800"/>
            <a:ext cx="154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项自检通过</a:t>
            </a:r>
            <a:endParaRPr lang="en-US" sz="900" dirty="0"/>
          </a:p>
        </p:txBody>
      </p:sp>
      <p:sp>
        <p:nvSpPr>
          <p:cNvPr id="12" name="p12-div"/>
          <p:cNvSpPr/>
          <p:nvPr/>
        </p:nvSpPr>
        <p:spPr>
          <a:xfrm>
            <a:off x="685800" y="3327400"/>
            <a:ext cx="10820400" cy="0"/>
          </a:xfrm>
          <a:prstGeom prst="line">
            <a:avLst/>
          </a:prstGeom>
          <a:noFill/>
          <a:ln w="10160">
            <a:solidFill>
              <a:srgbClr val="60666A"/>
            </a:solidFill>
            <a:prstDash val="solid"/>
          </a:ln>
        </p:spPr>
      </p:sp>
      <p:sp>
        <p:nvSpPr>
          <p:cNvPr id="13" name="p12-next-head"/>
          <p:cNvSpPr/>
          <p:nvPr/>
        </p:nvSpPr>
        <p:spPr>
          <a:xfrm>
            <a:off x="685800" y="3530600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如果继续做，下一步是这三件事</a:t>
            </a:r>
            <a:endParaRPr lang="en-US" sz="900" dirty="0"/>
          </a:p>
        </p:txBody>
      </p:sp>
      <p:sp>
        <p:nvSpPr>
          <p:cNvPr id="14" name="p12-n1"/>
          <p:cNvSpPr/>
          <p:nvPr/>
        </p:nvSpPr>
        <p:spPr>
          <a:xfrm>
            <a:off x="685800" y="3860800"/>
            <a:ext cx="34036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p12-n1-t"/>
          <p:cNvSpPr/>
          <p:nvPr/>
        </p:nvSpPr>
        <p:spPr>
          <a:xfrm>
            <a:off x="889000" y="40132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接通一个真实外部系统</a:t>
            </a:r>
            <a:endParaRPr lang="en-US" sz="1050" dirty="0"/>
          </a:p>
        </p:txBody>
      </p:sp>
      <p:sp>
        <p:nvSpPr>
          <p:cNvPr id="16" name="p12-n1-b"/>
          <p:cNvSpPr/>
          <p:nvPr/>
        </p:nvSpPr>
        <p:spPr>
          <a:xfrm>
            <a:off x="889000" y="4318000"/>
            <a:ext cx="304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 TMS 下发与结果回传打通，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验证集成层设计是否站得住。</a:t>
            </a:r>
            <a:endParaRPr lang="en-US" sz="950" dirty="0"/>
          </a:p>
        </p:txBody>
      </p:sp>
      <p:sp>
        <p:nvSpPr>
          <p:cNvPr id="17" name="p12-n2"/>
          <p:cNvSpPr/>
          <p:nvPr/>
        </p:nvSpPr>
        <p:spPr>
          <a:xfrm>
            <a:off x="4394200" y="3860800"/>
            <a:ext cx="34036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p12-n2-t"/>
          <p:cNvSpPr/>
          <p:nvPr/>
        </p:nvSpPr>
        <p:spPr>
          <a:xfrm>
            <a:off x="4597400" y="40132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接入真实路径规划</a:t>
            </a:r>
            <a:endParaRPr lang="en-US" sz="1050" dirty="0"/>
          </a:p>
        </p:txBody>
      </p:sp>
      <p:sp>
        <p:nvSpPr>
          <p:cNvPr id="19" name="p12-n2-b"/>
          <p:cNvSpPr/>
          <p:nvPr/>
        </p:nvSpPr>
        <p:spPr>
          <a:xfrm>
            <a:off x="4597400" y="4318000"/>
            <a:ext cx="304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当前用「一趟最多 8 个门店」简化，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有地图路径矩阵后才能算真实里程成本。</a:t>
            </a:r>
            <a:endParaRPr lang="en-US" sz="950" dirty="0"/>
          </a:p>
        </p:txBody>
      </p:sp>
      <p:sp>
        <p:nvSpPr>
          <p:cNvPr id="20" name="p12-n3"/>
          <p:cNvSpPr/>
          <p:nvPr/>
        </p:nvSpPr>
        <p:spPr>
          <a:xfrm>
            <a:off x="8102600" y="3860800"/>
            <a:ext cx="34036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12-n3-t"/>
          <p:cNvSpPr/>
          <p:nvPr/>
        </p:nvSpPr>
        <p:spPr>
          <a:xfrm>
            <a:off x="8305800" y="40132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补上求解质量的度量</a:t>
            </a:r>
            <a:endParaRPr lang="en-US" sz="1050" dirty="0"/>
          </a:p>
        </p:txBody>
      </p:sp>
      <p:sp>
        <p:nvSpPr>
          <p:cNvPr id="22" name="p12-n3-b"/>
          <p:cNvSpPr/>
          <p:nvPr/>
        </p:nvSpPr>
        <p:spPr>
          <a:xfrm>
            <a:off x="8305800" y="4318000"/>
            <a:ext cx="304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现在只验硬约束是否满足，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6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还没有跟人工排车结果做对比基线。</a:t>
            </a:r>
            <a:endParaRPr lang="en-US" sz="950" dirty="0"/>
          </a:p>
        </p:txBody>
      </p:sp>
      <p:sp>
        <p:nvSpPr>
          <p:cNvPr id="23" name="p12-thanks"/>
          <p:cNvSpPr/>
          <p:nvPr/>
        </p:nvSpPr>
        <p:spPr>
          <a:xfrm>
            <a:off x="685800" y="5435600"/>
            <a:ext cx="108204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感谢各位老师。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D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请提问。</a:t>
            </a:r>
            <a:endParaRPr lang="en-US" sz="2500" dirty="0"/>
          </a:p>
        </p:txBody>
      </p:sp>
      <p:sp>
        <p:nvSpPr>
          <p:cNvPr id="24" name="p12-page"/>
          <p:cNvSpPr/>
          <p:nvPr/>
        </p:nvSpPr>
        <p:spPr>
          <a:xfrm>
            <a:off x="11074400" y="381000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E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DeepSeek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车辆智能调度 Agent 项目答辩</dc:title>
  <dc:subject>Local PPTD v2 editable rendering</dc:subject>
  <dc:creator>DSH PPTD</dc:creator>
  <cp:lastModifiedBy>DSH PPTD</cp:lastModifiedBy>
  <cp:revision>1</cp:revision>
  <dcterms:created xsi:type="dcterms:W3CDTF">2026-10-07T13:47:30Z</dcterms:created>
  <dcterms:modified xsi:type="dcterms:W3CDTF">2026-10-07T13:47:30Z</dcterms:modified>
</cp:coreProperties>
</file>