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20 秒。一句话说清这个平台是干什么的。
强调「硬约束代码化，LLM 只负责解释」这一条设计主线。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秒。五个数字立住规模与验证。念准 29392 行、32 张表、103 个接口、8 类 Agent、198 项验证。
收尾句：硬约束代码化，LLM 只负责解释。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秒。这一页是全场技术含量最高的一页：子任务数量按公式算出来，不靠人估。
把日=30、周=4、月=1 这组映射念清楚，这是 PDF 明确要求的硬约束。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秒。这一页讲 LangGraph 编排：18 个节点、11 条普通边、4 个条件分支。
重点讲两个工程难点：人工确认的两阶段实现、异常重排的循环上限。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秒。八个 Agent 分三组讲，不要逐个念。
重点说「编排」这一类的职责是调度其它 Agent，不直接产出业务结果。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秒。四个数据范围由小到大，越权判断靠 DATA_SCOPE_ORDER。
强调：权限的最终防线在后端拦截，页面上的隐藏只是体验优化。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秒。验证分三层：后端冒烟、真实服务联调、前端模块编译。
强调「182 项全部可重复执行」，以及 103 个接口是活的服务上取下来的。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秒。主动交代限制，不要等老师问。
重点：外部平台一个都没真实连通；知识库只有 6 条演示数据；部分交付物未单独成文。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秒。四层架构，快速指一下。重点说两件事：
一是规则版本化（rule_version 表、可回滚）；二是数据库选型（SQLite 开箱可跑，PostgreSQL 可切）。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秒。这是全场重点，讲三个真实踩过的坑。
第一个是内存爆炸（有明确根因）；第二个是 PDF 建议的做法在本机跑不通（要说明取舍）；
第三个是自己发现的 404 变 500 缺陷。讲的时候不要心虚 —— 这是加分项。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秒。这一页是预备问答，挑最可能被问的五条讲。
如果时间紧，只讲前三条。
回答时先给结论，再给依据。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20 秒。念完定位句，停两秒，然后致谢。
让老师看清这三个数字。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-grid-v1"/>
          <p:cNvSpPr/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3" name="p01-grid-v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4" name="p01-grid-v3"/>
          <p:cNvSpPr/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5" name="p01-grid-h1"/>
          <p:cNvSpPr/>
          <p:nvPr/>
        </p:nvSpPr>
        <p:spPr>
          <a:xfrm>
            <a:off x="7620000" y="1714500"/>
            <a:ext cx="4572000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6" name="p01-grid-h2"/>
          <p:cNvSpPr/>
          <p:nvPr/>
        </p:nvSpPr>
        <p:spPr>
          <a:xfrm>
            <a:off x="7620000" y="3429000"/>
            <a:ext cx="4572000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7" name="p01-grid-h3"/>
          <p:cNvSpPr/>
          <p:nvPr/>
        </p:nvSpPr>
        <p:spPr>
          <a:xfrm>
            <a:off x="7620000" y="5143500"/>
            <a:ext cx="4572000" cy="0"/>
          </a:xfrm>
          <a:prstGeom prst="line">
            <a:avLst/>
          </a:prstGeom>
          <a:noFill/>
          <a:ln w="6350">
            <a:solidFill>
              <a:srgbClr val="C9C2B6"/>
            </a:solidFill>
            <a:prstDash val="solid"/>
          </a:ln>
        </p:spPr>
      </p:sp>
      <p:sp>
        <p:nvSpPr>
          <p:cNvPr id="8" name="p01-rail"/>
          <p:cNvSpPr/>
          <p:nvPr/>
        </p:nvSpPr>
        <p:spPr>
          <a:xfrm>
            <a:off x="609600" y="762000"/>
            <a:ext cx="63500" cy="31750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9" name="p01-code"/>
          <p:cNvSpPr/>
          <p:nvPr/>
        </p:nvSpPr>
        <p:spPr>
          <a:xfrm>
            <a:off x="889000" y="584200"/>
            <a:ext cx="660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 / CHARGING-PILE O&amp;M AI AGENT PLATFORM</a:t>
            </a:r>
            <a:endParaRPr lang="en-US" sz="900" dirty="0"/>
          </a:p>
        </p:txBody>
      </p:sp>
      <p:sp>
        <p:nvSpPr>
          <p:cNvPr id="10" name="p01-title"/>
          <p:cNvSpPr/>
          <p:nvPr/>
        </p:nvSpPr>
        <p:spPr>
          <a:xfrm>
            <a:off x="863600" y="9652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充电桩运维管理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平台</a:t>
            </a:r>
            <a:endParaRPr lang="en-US" sz="3600" dirty="0"/>
          </a:p>
        </p:txBody>
      </p:sp>
      <p:sp>
        <p:nvSpPr>
          <p:cNvPr id="11" name="p01-sub"/>
          <p:cNvSpPr/>
          <p:nvPr/>
        </p:nvSpPr>
        <p:spPr>
          <a:xfrm>
            <a:off x="889000" y="27432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把巡检、工单、故障、报告四条主线的运维规则代码化，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8 类 AI Agent 在硬约束之下辅助调度与决策。</a:t>
            </a:r>
            <a:endParaRPr lang="en-US" sz="1250" dirty="0"/>
          </a:p>
        </p:txBody>
      </p:sp>
      <p:sp>
        <p:nvSpPr>
          <p:cNvPr id="12" name="p01-claim-label"/>
          <p:cNvSpPr/>
          <p:nvPr/>
        </p:nvSpPr>
        <p:spPr>
          <a:xfrm>
            <a:off x="889000" y="36576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B53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设计主线</a:t>
            </a:r>
            <a:endParaRPr lang="en-US" sz="850" dirty="0"/>
          </a:p>
        </p:txBody>
      </p:sp>
      <p:sp>
        <p:nvSpPr>
          <p:cNvPr id="13" name="p01-claim"/>
          <p:cNvSpPr/>
          <p:nvPr/>
        </p:nvSpPr>
        <p:spPr>
          <a:xfrm>
            <a:off x="889000" y="39116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硬约束代码化，LLM 只负责解释与表达。</a:t>
            </a:r>
            <a:endParaRPr lang="en-US" sz="1500" dirty="0"/>
          </a:p>
        </p:txBody>
      </p:sp>
      <p:sp>
        <p:nvSpPr>
          <p:cNvPr id="14" name="p01-n1"/>
          <p:cNvSpPr/>
          <p:nvPr/>
        </p:nvSpPr>
        <p:spPr>
          <a:xfrm>
            <a:off x="7975600" y="1117600"/>
            <a:ext cx="12700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5" name="p01-n1-tag"/>
          <p:cNvSpPr/>
          <p:nvPr/>
        </p:nvSpPr>
        <p:spPr>
          <a:xfrm>
            <a:off x="7975600" y="1117600"/>
            <a:ext cx="1270000" cy="1016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16" name="p01-n1-text"/>
          <p:cNvSpPr/>
          <p:nvPr/>
        </p:nvSpPr>
        <p:spPr>
          <a:xfrm>
            <a:off x="8051800" y="1295400"/>
            <a:ext cx="111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数据感知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 · 设备 · 工单</a:t>
            </a:r>
            <a:endParaRPr lang="en-US" sz="850" dirty="0"/>
          </a:p>
        </p:txBody>
      </p:sp>
      <p:sp>
        <p:nvSpPr>
          <p:cNvPr id="17" name="p01-a1"/>
          <p:cNvSpPr/>
          <p:nvPr/>
        </p:nvSpPr>
        <p:spPr>
          <a:xfrm>
            <a:off x="9245600" y="1447800"/>
            <a:ext cx="508000" cy="0"/>
          </a:xfrm>
          <a:prstGeom prst="line">
            <a:avLst/>
          </a:prstGeom>
          <a:noFill/>
          <a:ln w="25400">
            <a:solidFill>
              <a:srgbClr val="252824"/>
            </a:solidFill>
            <a:prstDash val="solid"/>
          </a:ln>
        </p:spPr>
      </p:sp>
      <p:sp>
        <p:nvSpPr>
          <p:cNvPr id="18" name="p01-n2"/>
          <p:cNvSpPr/>
          <p:nvPr/>
        </p:nvSpPr>
        <p:spPr>
          <a:xfrm>
            <a:off x="9753600" y="1117600"/>
            <a:ext cx="1270000" cy="685800"/>
          </a:xfrm>
          <a:prstGeom prst="rect">
            <a:avLst/>
          </a:prstGeom>
          <a:solidFill>
            <a:srgbClr val="252824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9" name="p01-n2-text"/>
          <p:cNvSpPr/>
          <p:nvPr/>
        </p:nvSpPr>
        <p:spPr>
          <a:xfrm>
            <a:off x="9829800" y="1270000"/>
            <a:ext cx="1117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规则校验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硬约束拦截</a:t>
            </a:r>
            <a:endParaRPr lang="en-US" sz="850" dirty="0"/>
          </a:p>
        </p:txBody>
      </p:sp>
      <p:sp>
        <p:nvSpPr>
          <p:cNvPr id="20" name="p01-n3"/>
          <p:cNvSpPr/>
          <p:nvPr/>
        </p:nvSpPr>
        <p:spPr>
          <a:xfrm>
            <a:off x="7975600" y="2260600"/>
            <a:ext cx="12700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1" name="p01-n3-text"/>
          <p:cNvSpPr/>
          <p:nvPr/>
        </p:nvSpPr>
        <p:spPr>
          <a:xfrm>
            <a:off x="8051800" y="2413000"/>
            <a:ext cx="1117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方案生成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 + 评分</a:t>
            </a:r>
            <a:endParaRPr lang="en-US" sz="850" dirty="0"/>
          </a:p>
        </p:txBody>
      </p:sp>
      <p:sp>
        <p:nvSpPr>
          <p:cNvPr id="22" name="p01-a2"/>
          <p:cNvSpPr/>
          <p:nvPr/>
        </p:nvSpPr>
        <p:spPr>
          <a:xfrm>
            <a:off x="9245600" y="2590800"/>
            <a:ext cx="508000" cy="0"/>
          </a:xfrm>
          <a:prstGeom prst="line">
            <a:avLst/>
          </a:prstGeom>
          <a:noFill/>
          <a:ln w="25400">
            <a:solidFill>
              <a:srgbClr val="252824"/>
            </a:solidFill>
            <a:prstDash val="solid"/>
          </a:ln>
        </p:spPr>
      </p:sp>
      <p:sp>
        <p:nvSpPr>
          <p:cNvPr id="23" name="p01-n4"/>
          <p:cNvSpPr/>
          <p:nvPr/>
        </p:nvSpPr>
        <p:spPr>
          <a:xfrm>
            <a:off x="9753600" y="2260600"/>
            <a:ext cx="1270000" cy="685800"/>
          </a:xfrm>
          <a:prstGeom prst="rect">
            <a:avLst/>
          </a:prstGeom>
          <a:solidFill>
            <a:srgbClr val="B5392A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4" name="p01-n4-text"/>
          <p:cNvSpPr/>
          <p:nvPr/>
        </p:nvSpPr>
        <p:spPr>
          <a:xfrm>
            <a:off x="9829800" y="2413000"/>
            <a:ext cx="1117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人工确认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</a:t>
            </a:r>
            <a:endParaRPr lang="en-US" sz="850" dirty="0"/>
          </a:p>
        </p:txBody>
      </p:sp>
      <p:sp>
        <p:nvSpPr>
          <p:cNvPr id="25" name="p01-n5"/>
          <p:cNvSpPr/>
          <p:nvPr/>
        </p:nvSpPr>
        <p:spPr>
          <a:xfrm>
            <a:off x="7975600" y="3403600"/>
            <a:ext cx="12700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6" name="p01-n5-text"/>
          <p:cNvSpPr/>
          <p:nvPr/>
        </p:nvSpPr>
        <p:spPr>
          <a:xfrm>
            <a:off x="8051800" y="3556000"/>
            <a:ext cx="1117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下发执行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子任务公式</a:t>
            </a:r>
            <a:endParaRPr lang="en-US" sz="850" dirty="0"/>
          </a:p>
        </p:txBody>
      </p:sp>
      <p:sp>
        <p:nvSpPr>
          <p:cNvPr id="27" name="p01-a3"/>
          <p:cNvSpPr/>
          <p:nvPr/>
        </p:nvSpPr>
        <p:spPr>
          <a:xfrm>
            <a:off x="9245600" y="3733800"/>
            <a:ext cx="508000" cy="0"/>
          </a:xfrm>
          <a:prstGeom prst="line">
            <a:avLst/>
          </a:prstGeom>
          <a:noFill/>
          <a:ln w="25400">
            <a:solidFill>
              <a:srgbClr val="252824"/>
            </a:solidFill>
            <a:prstDash val="solid"/>
          </a:ln>
        </p:spPr>
      </p:sp>
      <p:sp>
        <p:nvSpPr>
          <p:cNvPr id="28" name="p01-n6"/>
          <p:cNvSpPr/>
          <p:nvPr/>
        </p:nvSpPr>
        <p:spPr>
          <a:xfrm>
            <a:off x="9753600" y="3403600"/>
            <a:ext cx="12700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9" name="p01-n6-text"/>
          <p:cNvSpPr/>
          <p:nvPr/>
        </p:nvSpPr>
        <p:spPr>
          <a:xfrm>
            <a:off x="9829800" y="3556000"/>
            <a:ext cx="1117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反馈闭环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异常重排</a:t>
            </a:r>
            <a:endParaRPr lang="en-US" sz="850" dirty="0"/>
          </a:p>
        </p:txBody>
      </p:sp>
      <p:sp>
        <p:nvSpPr>
          <p:cNvPr id="30" name="p01-stack"/>
          <p:cNvSpPr/>
          <p:nvPr/>
        </p:nvSpPr>
        <p:spPr>
          <a:xfrm>
            <a:off x="7975600" y="4419600"/>
            <a:ext cx="3606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SQLAlchemy 2.0 · SQLite / PostgreSQL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1.2 · OR-Tools CP-SAT · DeepSeek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3.5 · Vite 6 · Ant Design Vue · ECharts</a:t>
            </a:r>
            <a:endParaRPr lang="en-US" sz="850" dirty="0"/>
          </a:p>
        </p:txBody>
      </p:sp>
      <p:sp>
        <p:nvSpPr>
          <p:cNvPr id="31" name="p01-band"/>
          <p:cNvSpPr/>
          <p:nvPr/>
        </p:nvSpPr>
        <p:spPr>
          <a:xfrm>
            <a:off x="609600" y="5740400"/>
            <a:ext cx="10972800" cy="711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32" name="p01-band-label"/>
          <p:cNvSpPr/>
          <p:nvPr/>
        </p:nvSpPr>
        <p:spPr>
          <a:xfrm>
            <a:off x="838200" y="59182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</a:t>
            </a:r>
            <a:endParaRPr lang="en-US" sz="900" dirty="0"/>
          </a:p>
        </p:txBody>
      </p:sp>
      <p:sp>
        <p:nvSpPr>
          <p:cNvPr id="33" name="p01-band-text"/>
          <p:cNvSpPr/>
          <p:nvPr/>
        </p:nvSpPr>
        <p:spPr>
          <a:xfrm>
            <a:off x="2692400" y="5867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把运维规则从「人的经验」搬进代码：可配置、可版本化、可追溯，AI 在规则之内提供辅助。</a:t>
            </a:r>
            <a:endParaRPr lang="en-US" sz="1350" dirty="0"/>
          </a:p>
        </p:txBody>
      </p:sp>
      <p:sp>
        <p:nvSpPr>
          <p:cNvPr id="34" name="p01-page"/>
          <p:cNvSpPr/>
          <p:nvPr/>
        </p:nvSpPr>
        <p:spPr>
          <a:xfrm>
            <a:off x="11074400" y="355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2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一句话与五个数字</a:t>
            </a:r>
            <a:endParaRPr lang="en-US" sz="900" dirty="0"/>
          </a:p>
        </p:txBody>
      </p:sp>
      <p:sp>
        <p:nvSpPr>
          <p:cNvPr id="4" name="p02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全栈自建，规则可配置，AI 在约束之内工作</a:t>
            </a:r>
            <a:endParaRPr lang="en-US" sz="2300" dirty="0"/>
          </a:p>
        </p:txBody>
      </p:sp>
      <p:sp>
        <p:nvSpPr>
          <p:cNvPr id="5" name="p02-k1"/>
          <p:cNvSpPr/>
          <p:nvPr/>
        </p:nvSpPr>
        <p:spPr>
          <a:xfrm>
            <a:off x="609600" y="1422400"/>
            <a:ext cx="2032000" cy="1219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6" name="p02-k1-n"/>
          <p:cNvSpPr/>
          <p:nvPr/>
        </p:nvSpPr>
        <p:spPr>
          <a:xfrm>
            <a:off x="787400" y="1574800"/>
            <a:ext cx="167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29392</a:t>
            </a:r>
            <a:endParaRPr lang="en-US" sz="3000" dirty="0"/>
          </a:p>
        </p:txBody>
      </p:sp>
      <p:sp>
        <p:nvSpPr>
          <p:cNvPr id="7" name="p02-k1-l"/>
          <p:cNvSpPr/>
          <p:nvPr/>
        </p:nvSpPr>
        <p:spPr>
          <a:xfrm>
            <a:off x="787400" y="21082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行代码</a:t>
            </a:r>
            <a:endParaRPr lang="en-US" sz="900" dirty="0"/>
          </a:p>
        </p:txBody>
      </p:sp>
      <p:sp>
        <p:nvSpPr>
          <p:cNvPr id="8" name="p02-k1-note"/>
          <p:cNvSpPr/>
          <p:nvPr/>
        </p:nvSpPr>
        <p:spPr>
          <a:xfrm>
            <a:off x="787400" y="23368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17502 / 前端 11890</a:t>
            </a:r>
            <a:endParaRPr lang="en-US" sz="750" dirty="0"/>
          </a:p>
        </p:txBody>
      </p:sp>
      <p:sp>
        <p:nvSpPr>
          <p:cNvPr id="9" name="p02-k2"/>
          <p:cNvSpPr/>
          <p:nvPr/>
        </p:nvSpPr>
        <p:spPr>
          <a:xfrm>
            <a:off x="2794000" y="1422400"/>
            <a:ext cx="203200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0" name="p02-k2-n"/>
          <p:cNvSpPr/>
          <p:nvPr/>
        </p:nvSpPr>
        <p:spPr>
          <a:xfrm>
            <a:off x="2971800" y="1574800"/>
            <a:ext cx="167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000" dirty="0"/>
          </a:p>
        </p:txBody>
      </p:sp>
      <p:sp>
        <p:nvSpPr>
          <p:cNvPr id="11" name="p02-k2-l"/>
          <p:cNvSpPr/>
          <p:nvPr/>
        </p:nvSpPr>
        <p:spPr>
          <a:xfrm>
            <a:off x="2971800" y="21082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张数据表</a:t>
            </a:r>
            <a:endParaRPr lang="en-US" sz="900" dirty="0"/>
          </a:p>
        </p:txBody>
      </p:sp>
      <p:sp>
        <p:nvSpPr>
          <p:cNvPr id="12" name="p02-k2-note"/>
          <p:cNvSpPr/>
          <p:nvPr/>
        </p:nvSpPr>
        <p:spPr>
          <a:xfrm>
            <a:off x="2971800" y="23368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默认 / PostgreSQL 可切</a:t>
            </a:r>
            <a:endParaRPr lang="en-US" sz="750" dirty="0"/>
          </a:p>
        </p:txBody>
      </p:sp>
      <p:sp>
        <p:nvSpPr>
          <p:cNvPr id="13" name="p02-k3"/>
          <p:cNvSpPr/>
          <p:nvPr/>
        </p:nvSpPr>
        <p:spPr>
          <a:xfrm>
            <a:off x="4978400" y="1422400"/>
            <a:ext cx="203200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4" name="p02-k3-n"/>
          <p:cNvSpPr/>
          <p:nvPr/>
        </p:nvSpPr>
        <p:spPr>
          <a:xfrm>
            <a:off x="5156200" y="1574800"/>
            <a:ext cx="167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000" dirty="0"/>
          </a:p>
        </p:txBody>
      </p:sp>
      <p:sp>
        <p:nvSpPr>
          <p:cNvPr id="15" name="p02-k3-l"/>
          <p:cNvSpPr/>
          <p:nvPr/>
        </p:nvSpPr>
        <p:spPr>
          <a:xfrm>
            <a:off x="5156200" y="21082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个接口</a:t>
            </a:r>
            <a:endParaRPr lang="en-US" sz="900" dirty="0"/>
          </a:p>
        </p:txBody>
      </p:sp>
      <p:sp>
        <p:nvSpPr>
          <p:cNvPr id="16" name="p02-k3-note"/>
          <p:cNvSpPr/>
          <p:nvPr/>
        </p:nvSpPr>
        <p:spPr>
          <a:xfrm>
            <a:off x="5156200" y="23368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29 / 后台 23 / 工单 15</a:t>
            </a:r>
            <a:endParaRPr lang="en-US" sz="750" dirty="0"/>
          </a:p>
        </p:txBody>
      </p:sp>
      <p:sp>
        <p:nvSpPr>
          <p:cNvPr id="17" name="p02-k4"/>
          <p:cNvSpPr/>
          <p:nvPr/>
        </p:nvSpPr>
        <p:spPr>
          <a:xfrm>
            <a:off x="7162800" y="1422400"/>
            <a:ext cx="203200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8" name="p02-k4-n"/>
          <p:cNvSpPr/>
          <p:nvPr/>
        </p:nvSpPr>
        <p:spPr>
          <a:xfrm>
            <a:off x="7340600" y="1574800"/>
            <a:ext cx="167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p02-k4-l"/>
          <p:cNvSpPr/>
          <p:nvPr/>
        </p:nvSpPr>
        <p:spPr>
          <a:xfrm>
            <a:off x="7340600" y="21082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 AI Agent</a:t>
            </a:r>
            <a:endParaRPr lang="en-US" sz="900" dirty="0"/>
          </a:p>
        </p:txBody>
      </p:sp>
      <p:sp>
        <p:nvSpPr>
          <p:cNvPr id="20" name="p02-k4-note"/>
          <p:cNvSpPr/>
          <p:nvPr/>
        </p:nvSpPr>
        <p:spPr>
          <a:xfrm>
            <a:off x="7340600" y="2336800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节点 LangGraph 编排</a:t>
            </a:r>
            <a:endParaRPr lang="en-US" sz="750" dirty="0"/>
          </a:p>
        </p:txBody>
      </p:sp>
      <p:sp>
        <p:nvSpPr>
          <p:cNvPr id="21" name="p02-k5"/>
          <p:cNvSpPr/>
          <p:nvPr/>
        </p:nvSpPr>
        <p:spPr>
          <a:xfrm>
            <a:off x="9347200" y="1422400"/>
            <a:ext cx="2235200" cy="12192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22" name="p02-k5-n"/>
          <p:cNvSpPr/>
          <p:nvPr/>
        </p:nvSpPr>
        <p:spPr>
          <a:xfrm>
            <a:off x="9525000" y="15748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3000" dirty="0"/>
          </a:p>
        </p:txBody>
      </p:sp>
      <p:sp>
        <p:nvSpPr>
          <p:cNvPr id="23" name="p02-k5-l"/>
          <p:cNvSpPr/>
          <p:nvPr/>
        </p:nvSpPr>
        <p:spPr>
          <a:xfrm>
            <a:off x="9525000" y="2108200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项验证全部通过</a:t>
            </a:r>
            <a:endParaRPr lang="en-US" sz="900" dirty="0"/>
          </a:p>
        </p:txBody>
      </p:sp>
      <p:sp>
        <p:nvSpPr>
          <p:cNvPr id="24" name="p02-k5-note"/>
          <p:cNvSpPr/>
          <p:nvPr/>
        </p:nvSpPr>
        <p:spPr>
          <a:xfrm>
            <a:off x="9525000" y="2336800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 96 / 联调 54 / 前端 32</a:t>
            </a:r>
            <a:endParaRPr lang="en-US" sz="750" dirty="0"/>
          </a:p>
        </p:txBody>
      </p:sp>
      <p:sp>
        <p:nvSpPr>
          <p:cNvPr id="25" name="p02-div"/>
          <p:cNvSpPr/>
          <p:nvPr/>
        </p:nvSpPr>
        <p:spPr>
          <a:xfrm>
            <a:off x="609600" y="2946400"/>
            <a:ext cx="1097280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</a:ln>
        </p:spPr>
      </p:sp>
      <p:sp>
        <p:nvSpPr>
          <p:cNvPr id="26" name="p02-l1"/>
          <p:cNvSpPr/>
          <p:nvPr/>
        </p:nvSpPr>
        <p:spPr>
          <a:xfrm>
            <a:off x="609600" y="31750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平台覆盖的四条业务主线</a:t>
            </a:r>
            <a:endParaRPr lang="en-US" sz="850" dirty="0"/>
          </a:p>
        </p:txBody>
      </p:sp>
      <p:sp>
        <p:nvSpPr>
          <p:cNvPr id="27" name="p02-m1"/>
          <p:cNvSpPr/>
          <p:nvPr/>
        </p:nvSpPr>
        <p:spPr>
          <a:xfrm>
            <a:off x="609600" y="3479800"/>
            <a:ext cx="25908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8" name="p02-m1-t"/>
          <p:cNvSpPr/>
          <p:nvPr/>
        </p:nvSpPr>
        <p:spPr>
          <a:xfrm>
            <a:off x="787400" y="3632200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</a:t>
            </a:r>
            <a:endParaRPr lang="en-US" sz="1300" dirty="0"/>
          </a:p>
        </p:txBody>
      </p:sp>
      <p:sp>
        <p:nvSpPr>
          <p:cNvPr id="29" name="p02-m1-b"/>
          <p:cNvSpPr/>
          <p:nvPr/>
        </p:nvSpPr>
        <p:spPr>
          <a:xfrm>
            <a:off x="787400" y="3962400"/>
            <a:ext cx="2235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巡视 / 设备检查 / 其他 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特巡 / 消缺五类工单，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子任务数量按公式计算，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照规则来，不靠估。</a:t>
            </a:r>
            <a:endParaRPr lang="en-US" sz="850" dirty="0"/>
          </a:p>
        </p:txBody>
      </p:sp>
      <p:sp>
        <p:nvSpPr>
          <p:cNvPr id="30" name="p02-m2"/>
          <p:cNvSpPr/>
          <p:nvPr/>
        </p:nvSpPr>
        <p:spPr>
          <a:xfrm>
            <a:off x="3403600" y="3479800"/>
            <a:ext cx="25908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1" name="p02-m2-t"/>
          <p:cNvSpPr/>
          <p:nvPr/>
        </p:nvSpPr>
        <p:spPr>
          <a:xfrm>
            <a:off x="3581400" y="3632200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</a:t>
            </a:r>
            <a:endParaRPr lang="en-US" sz="1300" dirty="0"/>
          </a:p>
        </p:txBody>
      </p:sp>
      <p:sp>
        <p:nvSpPr>
          <p:cNvPr id="32" name="p02-m2-b"/>
          <p:cNvSpPr/>
          <p:nvPr/>
        </p:nvSpPr>
        <p:spPr>
          <a:xfrm>
            <a:off x="3581400" y="3962400"/>
            <a:ext cx="2235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状态机约束流转，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非法迁移直接拦截。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多方案比选后由人工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确认才下发。</a:t>
            </a:r>
            <a:endParaRPr lang="en-US" sz="850" dirty="0"/>
          </a:p>
        </p:txBody>
      </p:sp>
      <p:sp>
        <p:nvSpPr>
          <p:cNvPr id="33" name="p02-m3"/>
          <p:cNvSpPr/>
          <p:nvPr/>
        </p:nvSpPr>
        <p:spPr>
          <a:xfrm>
            <a:off x="6197600" y="3479800"/>
            <a:ext cx="25908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4" name="p02-m3-t"/>
          <p:cNvSpPr/>
          <p:nvPr/>
        </p:nvSpPr>
        <p:spPr>
          <a:xfrm>
            <a:off x="6375400" y="3632200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</a:t>
            </a:r>
            <a:endParaRPr lang="en-US" sz="1300" dirty="0"/>
          </a:p>
        </p:txBody>
      </p:sp>
      <p:sp>
        <p:nvSpPr>
          <p:cNvPr id="35" name="p02-m3-b"/>
          <p:cNvSpPr/>
          <p:nvPr/>
        </p:nvSpPr>
        <p:spPr>
          <a:xfrm>
            <a:off x="6375400" y="3962400"/>
            <a:ext cx="2235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草稿、上报、核查三段闭环。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高风险关键词自动判定等级。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照片多图上传并绑定单据。</a:t>
            </a:r>
            <a:endParaRPr lang="en-US" sz="850" dirty="0"/>
          </a:p>
        </p:txBody>
      </p:sp>
      <p:sp>
        <p:nvSpPr>
          <p:cNvPr id="36" name="p02-m4"/>
          <p:cNvSpPr/>
          <p:nvPr/>
        </p:nvSpPr>
        <p:spPr>
          <a:xfrm>
            <a:off x="8991600" y="3479800"/>
            <a:ext cx="25908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7" name="p02-m4-t"/>
          <p:cNvSpPr/>
          <p:nvPr/>
        </p:nvSpPr>
        <p:spPr>
          <a:xfrm>
            <a:off x="9169400" y="3632200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300" dirty="0"/>
          </a:p>
        </p:txBody>
      </p:sp>
      <p:sp>
        <p:nvSpPr>
          <p:cNvPr id="38" name="p02-m4-b"/>
          <p:cNvSpPr/>
          <p:nvPr/>
        </p:nvSpPr>
        <p:spPr>
          <a:xfrm>
            <a:off x="9169400" y="3962400"/>
            <a:ext cx="2235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 / 周 / 月 / 即时四类。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六大内容模块固定，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支持追问下钻与历史对比。</a:t>
            </a:r>
            <a:endParaRPr lang="en-US" sz="850" dirty="0"/>
          </a:p>
        </p:txBody>
      </p:sp>
      <p:sp>
        <p:nvSpPr>
          <p:cNvPr id="39" name="p02-band"/>
          <p:cNvSpPr/>
          <p:nvPr/>
        </p:nvSpPr>
        <p:spPr>
          <a:xfrm>
            <a:off x="609600" y="5130800"/>
            <a:ext cx="10972800" cy="6604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40" name="p02-band-label"/>
          <p:cNvSpPr/>
          <p:nvPr/>
        </p:nvSpPr>
        <p:spPr>
          <a:xfrm>
            <a:off x="838200" y="53086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850" dirty="0"/>
          </a:p>
        </p:txBody>
      </p:sp>
      <p:sp>
        <p:nvSpPr>
          <p:cNvPr id="41" name="p02-band-text"/>
          <p:cNvSpPr/>
          <p:nvPr/>
        </p:nvSpPr>
        <p:spPr>
          <a:xfrm>
            <a:off x="2540000" y="5257800"/>
            <a:ext cx="883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如果一个约束算错会导致方案不可行，它就必须写在代码里 —— 不交给模型判断。</a:t>
            </a:r>
            <a:endParaRPr lang="en-US" sz="1300" dirty="0"/>
          </a:p>
        </p:txBody>
      </p:sp>
      <p:sp>
        <p:nvSpPr>
          <p:cNvPr id="42" name="p02-source"/>
          <p:cNvSpPr/>
          <p:nvPr/>
        </p:nvSpPr>
        <p:spPr>
          <a:xfrm>
            <a:off x="609600" y="59690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数据来源：本机实测。代码行数由脚本统计 backend/app 下 .py 与 frontend/src 下 .vue/.js/.css；接口数取自 GET /openapi.json；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验证数为三套脚本报告（backend/smoke_report.txt 96 + verify_live.py 54 + verify_frontend.py 32 = 182）。</a:t>
            </a:r>
            <a:endParaRPr lang="en-US" sz="750" dirty="0"/>
          </a:p>
        </p:txBody>
      </p:sp>
      <p:sp>
        <p:nvSpPr>
          <p:cNvPr id="43" name="p02-page"/>
          <p:cNvSpPr/>
          <p:nvPr/>
        </p:nvSpPr>
        <p:spPr>
          <a:xfrm>
            <a:off x="11074400" y="63500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3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硬约束代码化</a:t>
            </a:r>
            <a:endParaRPr lang="en-US" sz="900" dirty="0"/>
          </a:p>
        </p:txBody>
      </p:sp>
      <p:sp>
        <p:nvSpPr>
          <p:cNvPr id="4" name="p03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子任务数量由公式计算，不由人估</a:t>
            </a:r>
            <a:endParaRPr lang="en-US" sz="2300" dirty="0"/>
          </a:p>
        </p:txBody>
      </p:sp>
      <p:sp>
        <p:nvSpPr>
          <p:cNvPr id="5" name="p03-tbl-head"/>
          <p:cNvSpPr/>
          <p:nvPr/>
        </p:nvSpPr>
        <p:spPr>
          <a:xfrm>
            <a:off x="609600" y="1346200"/>
            <a:ext cx="660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五类工单的子任务计算规则（硬约束）</a:t>
            </a:r>
            <a:endParaRPr lang="en-US" sz="850" dirty="0"/>
          </a:p>
        </p:txBody>
      </p:sp>
      <p:graphicFrame>
        <p:nvGraphicFramePr>
          <p:cNvPr id="4" name="p03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25600"/>
          <a:ext cx="6604000" cy="2387600"/>
        </p:xfrm>
        <a:graphic>
          <a:graphicData uri="http://schemas.openxmlformats.org/drawingml/2006/table">
            <a:tbl>
              <a:tblPr/>
              <a:tblGrid>
                <a:gridCol w="1320800"/>
                <a:gridCol w="3434080"/>
                <a:gridCol w="18491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工单类型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子任务数量公式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24"/>
                    </a:solidFill>
                  </a:tcPr>
                </a:tc>
              </a:tr>
              <a:tr h="3820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站点数量 × 巡检周期 × 巡检频率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三类合一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0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设备检查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站点数量 × 巡检周期 × 巡检频率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0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站点数量 × 巡检周期 × 巡检频率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0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站点数量 × 巡检次数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按次数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0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1 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单点处置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03-freq-head"/>
          <p:cNvSpPr/>
          <p:nvPr/>
        </p:nvSpPr>
        <p:spPr>
          <a:xfrm>
            <a:off x="609600" y="4216400"/>
            <a:ext cx="660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巡检周期的频率映射</a:t>
            </a:r>
            <a:endParaRPr lang="en-US" sz="850" dirty="0"/>
          </a:p>
        </p:txBody>
      </p:sp>
      <p:sp>
        <p:nvSpPr>
          <p:cNvPr id="8" name="p03-f1"/>
          <p:cNvSpPr/>
          <p:nvPr/>
        </p:nvSpPr>
        <p:spPr>
          <a:xfrm>
            <a:off x="609600" y="4495800"/>
            <a:ext cx="20828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9" name="p03-f1-n"/>
          <p:cNvSpPr/>
          <p:nvPr/>
        </p:nvSpPr>
        <p:spPr>
          <a:xfrm>
            <a:off x="787400" y="4597400"/>
            <a:ext cx="172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400" dirty="0"/>
          </a:p>
        </p:txBody>
      </p:sp>
      <p:sp>
        <p:nvSpPr>
          <p:cNvPr id="10" name="p03-f1-l"/>
          <p:cNvSpPr/>
          <p:nvPr/>
        </p:nvSpPr>
        <p:spPr>
          <a:xfrm>
            <a:off x="787400" y="4978400"/>
            <a:ext cx="172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日巡检 / 每周期</a:t>
            </a:r>
            <a:endParaRPr lang="en-US" sz="850" dirty="0"/>
          </a:p>
        </p:txBody>
      </p:sp>
      <p:sp>
        <p:nvSpPr>
          <p:cNvPr id="11" name="p03-f2"/>
          <p:cNvSpPr/>
          <p:nvPr/>
        </p:nvSpPr>
        <p:spPr>
          <a:xfrm>
            <a:off x="2844800" y="4495800"/>
            <a:ext cx="20828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2" name="p03-f2-n"/>
          <p:cNvSpPr/>
          <p:nvPr/>
        </p:nvSpPr>
        <p:spPr>
          <a:xfrm>
            <a:off x="3022600" y="4597400"/>
            <a:ext cx="172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p03-f2-l"/>
          <p:cNvSpPr/>
          <p:nvPr/>
        </p:nvSpPr>
        <p:spPr>
          <a:xfrm>
            <a:off x="3022600" y="4978400"/>
            <a:ext cx="172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周巡检 / 每周期</a:t>
            </a:r>
            <a:endParaRPr lang="en-US" sz="850" dirty="0"/>
          </a:p>
        </p:txBody>
      </p:sp>
      <p:sp>
        <p:nvSpPr>
          <p:cNvPr id="14" name="p03-f3"/>
          <p:cNvSpPr/>
          <p:nvPr/>
        </p:nvSpPr>
        <p:spPr>
          <a:xfrm>
            <a:off x="5080000" y="4495800"/>
            <a:ext cx="21336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5" name="p03-f3-n"/>
          <p:cNvSpPr/>
          <p:nvPr/>
        </p:nvSpPr>
        <p:spPr>
          <a:xfrm>
            <a:off x="5257800" y="45974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p03-f3-l"/>
          <p:cNvSpPr/>
          <p:nvPr/>
        </p:nvSpPr>
        <p:spPr>
          <a:xfrm>
            <a:off x="5257800" y="49784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月巡检 / 每周期</a:t>
            </a:r>
            <a:endParaRPr lang="en-US" sz="850" dirty="0"/>
          </a:p>
        </p:txBody>
      </p:sp>
      <p:sp>
        <p:nvSpPr>
          <p:cNvPr id="17" name="p03-right"/>
          <p:cNvSpPr/>
          <p:nvPr/>
        </p:nvSpPr>
        <p:spPr>
          <a:xfrm>
            <a:off x="7569200" y="1346200"/>
            <a:ext cx="4013200" cy="393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8" name="p03-right-head"/>
          <p:cNvSpPr/>
          <p:nvPr/>
        </p:nvSpPr>
        <p:spPr>
          <a:xfrm>
            <a:off x="7569200" y="1346200"/>
            <a:ext cx="40132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9" name="p03-right-label"/>
          <p:cNvSpPr/>
          <p:nvPr/>
        </p:nvSpPr>
        <p:spPr>
          <a:xfrm>
            <a:off x="7747000" y="1397000"/>
            <a:ext cx="368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为什么必须写进代码</a:t>
            </a:r>
            <a:endParaRPr lang="en-US" sz="850" dirty="0"/>
          </a:p>
        </p:txBody>
      </p:sp>
      <p:sp>
        <p:nvSpPr>
          <p:cNvPr id="20" name="p03-right-1"/>
          <p:cNvSpPr/>
          <p:nvPr/>
        </p:nvSpPr>
        <p:spPr>
          <a:xfrm>
            <a:off x="7772400" y="1854200"/>
            <a:ext cx="363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子任务数直接决定派工量、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工时估算和考核口径。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算错一个，整月的报表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全部失真。</a:t>
            </a:r>
            <a:endParaRPr lang="en-US" sz="900" dirty="0"/>
          </a:p>
        </p:txBody>
      </p:sp>
      <p:sp>
        <p:nvSpPr>
          <p:cNvPr id="21" name="p03-right-div"/>
          <p:cNvSpPr/>
          <p:nvPr/>
        </p:nvSpPr>
        <p:spPr>
          <a:xfrm>
            <a:off x="7772400" y="2768600"/>
            <a:ext cx="3632200" cy="0"/>
          </a:xfrm>
          <a:prstGeom prst="line">
            <a:avLst/>
          </a:prstGeom>
          <a:noFill/>
          <a:ln w="8890">
            <a:solidFill>
              <a:srgbClr val="C9C2B6"/>
            </a:solidFill>
            <a:prstDash val="solid"/>
          </a:ln>
        </p:spPr>
      </p:sp>
      <p:sp>
        <p:nvSpPr>
          <p:cNvPr id="22" name="p03-right-2"/>
          <p:cNvSpPr/>
          <p:nvPr/>
        </p:nvSpPr>
        <p:spPr>
          <a:xfrm>
            <a:off x="7772400" y="2946400"/>
            <a:ext cx="363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公式放在 services/work_order.py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calc_subtask_count()，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求解器与接口共用同一份实现，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不重复写第二遍。</a:t>
            </a:r>
            <a:endParaRPr lang="en-US" sz="900" dirty="0"/>
          </a:p>
        </p:txBody>
      </p:sp>
      <p:sp>
        <p:nvSpPr>
          <p:cNvPr id="23" name="p03-right-div2"/>
          <p:cNvSpPr/>
          <p:nvPr/>
        </p:nvSpPr>
        <p:spPr>
          <a:xfrm>
            <a:off x="7772400" y="3860800"/>
            <a:ext cx="3632200" cy="0"/>
          </a:xfrm>
          <a:prstGeom prst="line">
            <a:avLst/>
          </a:prstGeom>
          <a:noFill/>
          <a:ln w="8890">
            <a:solidFill>
              <a:srgbClr val="C9C2B6"/>
            </a:solidFill>
            <a:prstDash val="solid"/>
          </a:ln>
        </p:spPr>
      </p:sp>
      <p:sp>
        <p:nvSpPr>
          <p:cNvPr id="24" name="p03-right-3"/>
          <p:cNvSpPr/>
          <p:nvPr/>
        </p:nvSpPr>
        <p:spPr>
          <a:xfrm>
            <a:off x="7772400" y="4038600"/>
            <a:ext cx="3632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求解器在生成方案前会复核：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巡视类必须给出巡检周期与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频率；特巡次数至少为 1；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消缺只能对应单个站点。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不满足直接判为不可行。</a:t>
            </a:r>
            <a:endParaRPr lang="en-US" sz="900" dirty="0"/>
          </a:p>
        </p:txBody>
      </p:sp>
      <p:sp>
        <p:nvSpPr>
          <p:cNvPr id="25" name="p03-band"/>
          <p:cNvSpPr/>
          <p:nvPr/>
        </p:nvSpPr>
        <p:spPr>
          <a:xfrm>
            <a:off x="609600" y="5537200"/>
            <a:ext cx="10972800" cy="6096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26" name="p03-band-text"/>
          <p:cNvSpPr/>
          <p:nvPr/>
        </p:nvSpPr>
        <p:spPr>
          <a:xfrm>
            <a:off x="838200" y="561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硬约束的判断标准：算错了会导致方案不可行，或者会让报表口径失真。</a:t>
            </a:r>
            <a:endParaRPr lang="en-US" sz="1300" dirty="0"/>
          </a:p>
        </p:txBody>
      </p:sp>
      <p:sp>
        <p:nvSpPr>
          <p:cNvPr id="27" name="p03-source"/>
          <p:cNvSpPr/>
          <p:nvPr/>
        </p:nvSpPr>
        <p:spPr>
          <a:xfrm>
            <a:off x="609600" y="62738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依据：backend/app/core/enums.py 第 21-26 行定义五类工单；第 158-160 行注释给出三条公式；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backend/app/ai/nodes.py 第 350-356 行与 backend/app/services/work_order.py 的 FREQUENCY_PER_CYCLE 给出频率映射。</a:t>
            </a:r>
            <a:endParaRPr lang="en-US" sz="750" dirty="0"/>
          </a:p>
        </p:txBody>
      </p:sp>
      <p:sp>
        <p:nvSpPr>
          <p:cNvPr id="28" name="p03-page"/>
          <p:cNvSpPr/>
          <p:nvPr/>
        </p:nvSpPr>
        <p:spPr>
          <a:xfrm>
            <a:off x="11074400" y="62738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4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AI 工作流编排</a:t>
            </a:r>
            <a:endParaRPr lang="en-US" sz="900" dirty="0"/>
          </a:p>
        </p:txBody>
      </p:sp>
      <p:sp>
        <p:nvSpPr>
          <p:cNvPr id="4" name="p04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个节点串成一条可挂起、可重排的流水线</a:t>
            </a:r>
            <a:endParaRPr lang="en-US" sz="2300" dirty="0"/>
          </a:p>
        </p:txBody>
      </p:sp>
      <p:sp>
        <p:nvSpPr>
          <p:cNvPr id="5" name="p04-l1"/>
          <p:cNvSpPr/>
          <p:nvPr/>
        </p:nvSpPr>
        <p:spPr>
          <a:xfrm>
            <a:off x="609600" y="13208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主链路静态边</a:t>
            </a:r>
            <a:endParaRPr lang="en-US" sz="850" dirty="0"/>
          </a:p>
        </p:txBody>
      </p:sp>
      <p:sp>
        <p:nvSpPr>
          <p:cNvPr id="6" name="p04-c1"/>
          <p:cNvSpPr/>
          <p:nvPr/>
        </p:nvSpPr>
        <p:spPr>
          <a:xfrm>
            <a:off x="609600" y="1600200"/>
            <a:ext cx="14224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7" name="p04-c1-t"/>
          <p:cNvSpPr/>
          <p:nvPr/>
        </p:nvSpPr>
        <p:spPr>
          <a:xfrm>
            <a:off x="685800" y="16764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load_task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载入任务</a:t>
            </a:r>
            <a:endParaRPr lang="en-US" sz="800" dirty="0"/>
          </a:p>
        </p:txBody>
      </p:sp>
      <p:sp>
        <p:nvSpPr>
          <p:cNvPr id="8" name="p04-e1"/>
          <p:cNvSpPr/>
          <p:nvPr/>
        </p:nvSpPr>
        <p:spPr>
          <a:xfrm>
            <a:off x="2032000" y="1905000"/>
            <a:ext cx="2286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9" name="p04-c2"/>
          <p:cNvSpPr/>
          <p:nvPr/>
        </p:nvSpPr>
        <p:spPr>
          <a:xfrm>
            <a:off x="2260600" y="1600200"/>
            <a:ext cx="14224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0" name="p04-c2-t"/>
          <p:cNvSpPr/>
          <p:nvPr/>
        </p:nvSpPr>
        <p:spPr>
          <a:xfrm>
            <a:off x="2336800" y="16764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data_perception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数据感知</a:t>
            </a:r>
            <a:endParaRPr lang="en-US" sz="800" dirty="0"/>
          </a:p>
        </p:txBody>
      </p:sp>
      <p:sp>
        <p:nvSpPr>
          <p:cNvPr id="11" name="p04-e2"/>
          <p:cNvSpPr/>
          <p:nvPr/>
        </p:nvSpPr>
        <p:spPr>
          <a:xfrm>
            <a:off x="3683000" y="1905000"/>
            <a:ext cx="2286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12" name="p04-c3"/>
          <p:cNvSpPr/>
          <p:nvPr/>
        </p:nvSpPr>
        <p:spPr>
          <a:xfrm>
            <a:off x="3911600" y="1600200"/>
            <a:ext cx="14224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3" name="p04-c3-t"/>
          <p:cNvSpPr/>
          <p:nvPr/>
        </p:nvSpPr>
        <p:spPr>
          <a:xfrm>
            <a:off x="3987800" y="16764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constraint_parse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约束解析</a:t>
            </a:r>
            <a:endParaRPr lang="en-US" sz="800" dirty="0"/>
          </a:p>
        </p:txBody>
      </p:sp>
      <p:sp>
        <p:nvSpPr>
          <p:cNvPr id="14" name="p04-e3"/>
          <p:cNvSpPr/>
          <p:nvPr/>
        </p:nvSpPr>
        <p:spPr>
          <a:xfrm>
            <a:off x="5334000" y="1905000"/>
            <a:ext cx="2286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15" name="p04-c4"/>
          <p:cNvSpPr/>
          <p:nvPr/>
        </p:nvSpPr>
        <p:spPr>
          <a:xfrm>
            <a:off x="5562600" y="1600200"/>
            <a:ext cx="1422400" cy="609600"/>
          </a:xfrm>
          <a:prstGeom prst="rect">
            <a:avLst/>
          </a:prstGeom>
          <a:solidFill>
            <a:srgbClr val="B5392A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6" name="p04-c4-t"/>
          <p:cNvSpPr/>
          <p:nvPr/>
        </p:nvSpPr>
        <p:spPr>
          <a:xfrm>
            <a:off x="5638800" y="16764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rule_validation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规则校验 ◆</a:t>
            </a:r>
            <a:endParaRPr lang="en-US" sz="800" dirty="0"/>
          </a:p>
        </p:txBody>
      </p:sp>
      <p:sp>
        <p:nvSpPr>
          <p:cNvPr id="17" name="p04-e4"/>
          <p:cNvSpPr/>
          <p:nvPr/>
        </p:nvSpPr>
        <p:spPr>
          <a:xfrm>
            <a:off x="6985000" y="1905000"/>
            <a:ext cx="2286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18" name="p04-c5"/>
          <p:cNvSpPr/>
          <p:nvPr/>
        </p:nvSpPr>
        <p:spPr>
          <a:xfrm>
            <a:off x="7213600" y="1600200"/>
            <a:ext cx="1422400" cy="609600"/>
          </a:xfrm>
          <a:prstGeom prst="rect">
            <a:avLst/>
          </a:prstGeom>
          <a:solidFill>
            <a:srgbClr val="B5392A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9" name="p04-c5-t"/>
          <p:cNvSpPr/>
          <p:nvPr/>
        </p:nvSpPr>
        <p:spPr>
          <a:xfrm>
            <a:off x="7289800" y="16764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work_order_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◆</a:t>
            </a:r>
            <a:endParaRPr lang="en-US" sz="800" dirty="0"/>
          </a:p>
        </p:txBody>
      </p:sp>
      <p:sp>
        <p:nvSpPr>
          <p:cNvPr id="20" name="p04-e5"/>
          <p:cNvSpPr/>
          <p:nvPr/>
        </p:nvSpPr>
        <p:spPr>
          <a:xfrm>
            <a:off x="8636000" y="1905000"/>
            <a:ext cx="2286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21" name="p04-c6"/>
          <p:cNvSpPr/>
          <p:nvPr/>
        </p:nvSpPr>
        <p:spPr>
          <a:xfrm>
            <a:off x="8864600" y="1600200"/>
            <a:ext cx="13462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2" name="p04-c6-t"/>
          <p:cNvSpPr/>
          <p:nvPr/>
        </p:nvSpPr>
        <p:spPr>
          <a:xfrm>
            <a:off x="8940800" y="1676400"/>
            <a:ext cx="119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task_scheduling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任务排程</a:t>
            </a:r>
            <a:endParaRPr lang="en-US" sz="800" dirty="0"/>
          </a:p>
        </p:txBody>
      </p:sp>
      <p:sp>
        <p:nvSpPr>
          <p:cNvPr id="23" name="p04-e6"/>
          <p:cNvSpPr/>
          <p:nvPr/>
        </p:nvSpPr>
        <p:spPr>
          <a:xfrm>
            <a:off x="10210800" y="1905000"/>
            <a:ext cx="1778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24" name="p04-l2"/>
          <p:cNvSpPr/>
          <p:nvPr/>
        </p:nvSpPr>
        <p:spPr>
          <a:xfrm>
            <a:off x="609600" y="2413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后续链路（含挂起点与重排回路）</a:t>
            </a:r>
            <a:endParaRPr lang="en-US" sz="850" dirty="0"/>
          </a:p>
        </p:txBody>
      </p:sp>
      <p:sp>
        <p:nvSpPr>
          <p:cNvPr id="25" name="p04-d1"/>
          <p:cNvSpPr/>
          <p:nvPr/>
        </p:nvSpPr>
        <p:spPr>
          <a:xfrm>
            <a:off x="609600" y="2692400"/>
            <a:ext cx="1651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6" name="p04-d1-t"/>
          <p:cNvSpPr/>
          <p:nvPr/>
        </p:nvSpPr>
        <p:spPr>
          <a:xfrm>
            <a:off x="685800" y="2768600"/>
            <a:ext cx="149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inspection_processing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巡检处理</a:t>
            </a:r>
            <a:endParaRPr lang="en-US" sz="800" dirty="0"/>
          </a:p>
        </p:txBody>
      </p:sp>
      <p:sp>
        <p:nvSpPr>
          <p:cNvPr id="27" name="p04-e7"/>
          <p:cNvSpPr/>
          <p:nvPr/>
        </p:nvSpPr>
        <p:spPr>
          <a:xfrm>
            <a:off x="2260600" y="2997200"/>
            <a:ext cx="2032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28" name="p04-d2"/>
          <p:cNvSpPr/>
          <p:nvPr/>
        </p:nvSpPr>
        <p:spPr>
          <a:xfrm>
            <a:off x="2463800" y="2692400"/>
            <a:ext cx="1651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9" name="p04-d2-t"/>
          <p:cNvSpPr/>
          <p:nvPr/>
        </p:nvSpPr>
        <p:spPr>
          <a:xfrm>
            <a:off x="2540000" y="2768600"/>
            <a:ext cx="149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fault_diagnosis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故障诊断</a:t>
            </a:r>
            <a:endParaRPr lang="en-US" sz="800" dirty="0"/>
          </a:p>
        </p:txBody>
      </p:sp>
      <p:sp>
        <p:nvSpPr>
          <p:cNvPr id="30" name="p04-e8"/>
          <p:cNvSpPr/>
          <p:nvPr/>
        </p:nvSpPr>
        <p:spPr>
          <a:xfrm>
            <a:off x="4114800" y="2997200"/>
            <a:ext cx="2032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31" name="p04-d3"/>
          <p:cNvSpPr/>
          <p:nvPr/>
        </p:nvSpPr>
        <p:spPr>
          <a:xfrm>
            <a:off x="4318000" y="2692400"/>
            <a:ext cx="165100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2" name="p04-d3-t"/>
          <p:cNvSpPr/>
          <p:nvPr/>
        </p:nvSpPr>
        <p:spPr>
          <a:xfrm>
            <a:off x="4394200" y="2768600"/>
            <a:ext cx="149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report_generation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</a:t>
            </a:r>
            <a:endParaRPr lang="en-US" sz="800" dirty="0"/>
          </a:p>
        </p:txBody>
      </p:sp>
      <p:sp>
        <p:nvSpPr>
          <p:cNvPr id="33" name="p04-e9"/>
          <p:cNvSpPr/>
          <p:nvPr/>
        </p:nvSpPr>
        <p:spPr>
          <a:xfrm>
            <a:off x="5969000" y="2997200"/>
            <a:ext cx="2032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34" name="p04-d4"/>
          <p:cNvSpPr/>
          <p:nvPr/>
        </p:nvSpPr>
        <p:spPr>
          <a:xfrm>
            <a:off x="6172200" y="2692400"/>
            <a:ext cx="1651000" cy="609600"/>
          </a:xfrm>
          <a:prstGeom prst="rect">
            <a:avLst/>
          </a:prstGeom>
          <a:solidFill>
            <a:srgbClr val="252824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5" name="p04-d4-t"/>
          <p:cNvSpPr/>
          <p:nvPr/>
        </p:nvSpPr>
        <p:spPr>
          <a:xfrm>
            <a:off x="6248400" y="2768600"/>
            <a:ext cx="149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human_confirmation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挂起待确认</a:t>
            </a:r>
            <a:endParaRPr lang="en-US" sz="800" dirty="0"/>
          </a:p>
        </p:txBody>
      </p:sp>
      <p:sp>
        <p:nvSpPr>
          <p:cNvPr id="36" name="p04-e10"/>
          <p:cNvSpPr/>
          <p:nvPr/>
        </p:nvSpPr>
        <p:spPr>
          <a:xfrm>
            <a:off x="7823200" y="2997200"/>
            <a:ext cx="2032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37" name="p04-d5"/>
          <p:cNvSpPr/>
          <p:nvPr/>
        </p:nvSpPr>
        <p:spPr>
          <a:xfrm>
            <a:off x="8026400" y="2692400"/>
            <a:ext cx="2184400" cy="609600"/>
          </a:xfrm>
          <a:prstGeom prst="rect">
            <a:avLst/>
          </a:prstGeom>
          <a:solidFill>
            <a:srgbClr val="B5392A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8" name="p04-d5-t"/>
          <p:cNvSpPr/>
          <p:nvPr/>
        </p:nvSpPr>
        <p:spPr>
          <a:xfrm>
            <a:off x="8102600" y="2768600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dispatch_execution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确认后建单下发</a:t>
            </a:r>
            <a:endParaRPr lang="en-US" sz="800" dirty="0"/>
          </a:p>
        </p:txBody>
      </p:sp>
      <p:sp>
        <p:nvSpPr>
          <p:cNvPr id="39" name="p04-d6"/>
          <p:cNvSpPr/>
          <p:nvPr/>
        </p:nvSpPr>
        <p:spPr>
          <a:xfrm>
            <a:off x="609600" y="3606800"/>
            <a:ext cx="1879600" cy="55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40" name="p04-d6-t"/>
          <p:cNvSpPr/>
          <p:nvPr/>
        </p:nvSpPr>
        <p:spPr>
          <a:xfrm>
            <a:off x="685800" y="3683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monitor_exception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异常监控</a:t>
            </a:r>
            <a:endParaRPr lang="en-US" sz="800" dirty="0"/>
          </a:p>
        </p:txBody>
      </p:sp>
      <p:sp>
        <p:nvSpPr>
          <p:cNvPr id="41" name="p04-eA"/>
          <p:cNvSpPr/>
          <p:nvPr/>
        </p:nvSpPr>
        <p:spPr>
          <a:xfrm>
            <a:off x="2489200" y="3886200"/>
            <a:ext cx="2032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42" name="p04-d7"/>
          <p:cNvSpPr/>
          <p:nvPr/>
        </p:nvSpPr>
        <p:spPr>
          <a:xfrm>
            <a:off x="2692400" y="3606800"/>
            <a:ext cx="1879600" cy="55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43" name="p04-d7-t"/>
          <p:cNvSpPr/>
          <p:nvPr/>
        </p:nvSpPr>
        <p:spPr>
          <a:xfrm>
            <a:off x="2768600" y="3683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impact_analysis 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800" dirty="0"/>
          </a:p>
        </p:txBody>
      </p:sp>
      <p:sp>
        <p:nvSpPr>
          <p:cNvPr id="44" name="p04-eB"/>
          <p:cNvSpPr/>
          <p:nvPr/>
        </p:nvSpPr>
        <p:spPr>
          <a:xfrm>
            <a:off x="4572000" y="3886200"/>
            <a:ext cx="2032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45" name="p04-d8"/>
          <p:cNvSpPr/>
          <p:nvPr/>
        </p:nvSpPr>
        <p:spPr>
          <a:xfrm>
            <a:off x="4775200" y="3606800"/>
            <a:ext cx="1879600" cy="55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46" name="p04-d8-t"/>
          <p:cNvSpPr/>
          <p:nvPr/>
        </p:nvSpPr>
        <p:spPr>
          <a:xfrm>
            <a:off x="4851400" y="3683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replan / plan_scoring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重排与评分</a:t>
            </a:r>
            <a:endParaRPr lang="en-US" sz="800" dirty="0"/>
          </a:p>
        </p:txBody>
      </p:sp>
      <p:sp>
        <p:nvSpPr>
          <p:cNvPr id="47" name="p04-loop"/>
          <p:cNvSpPr/>
          <p:nvPr/>
        </p:nvSpPr>
        <p:spPr>
          <a:xfrm>
            <a:off x="6858000" y="3606800"/>
            <a:ext cx="3048000" cy="558800"/>
          </a:xfrm>
          <a:prstGeom prst="rect">
            <a:avLst/>
          </a:prstGeom>
          <a:solidFill>
            <a:srgbClr val="F2DED8"/>
          </a:solidFill>
          <a:ln w="15240">
            <a:solidFill>
              <a:srgbClr val="B5392A"/>
            </a:solidFill>
            <a:prstDash val="solid"/>
          </a:ln>
        </p:spPr>
      </p:sp>
      <p:sp>
        <p:nvSpPr>
          <p:cNvPr id="48" name="p04-loop-t"/>
          <p:cNvSpPr/>
          <p:nvPr/>
        </p:nvSpPr>
        <p:spPr>
          <a:xfrm>
            <a:off x="6985000" y="3683000"/>
            <a:ext cx="279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relax_constraints → exception_handler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失败时放宽，最多重试 2 次</a:t>
            </a:r>
            <a:endParaRPr lang="en-US" sz="800" dirty="0"/>
          </a:p>
        </p:txBody>
      </p:sp>
      <p:sp>
        <p:nvSpPr>
          <p:cNvPr id="49" name="p04-note-head"/>
          <p:cNvSpPr/>
          <p:nvPr/>
        </p:nvSpPr>
        <p:spPr>
          <a:xfrm>
            <a:off x="609600" y="4394200"/>
            <a:ext cx="1097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两个工程难点</a:t>
            </a:r>
            <a:endParaRPr lang="en-US" sz="850" dirty="0"/>
          </a:p>
        </p:txBody>
      </p:sp>
      <p:sp>
        <p:nvSpPr>
          <p:cNvPr id="50" name="p04-n1"/>
          <p:cNvSpPr/>
          <p:nvPr/>
        </p:nvSpPr>
        <p:spPr>
          <a:xfrm>
            <a:off x="609600" y="4673600"/>
            <a:ext cx="5384800" cy="147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51" name="p04-n1-t"/>
          <p:cNvSpPr/>
          <p:nvPr/>
        </p:nvSpPr>
        <p:spPr>
          <a:xfrm>
            <a:off x="787400" y="4826000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人工确认为什么不用 LangGraph 的 interrupt()</a:t>
            </a:r>
            <a:endParaRPr lang="en-US" sz="950" dirty="0"/>
          </a:p>
        </p:txBody>
      </p:sp>
      <p:sp>
        <p:nvSpPr>
          <p:cNvPr id="52" name="p04-n1-b"/>
          <p:cNvSpPr/>
          <p:nvPr/>
        </p:nvSpPr>
        <p:spPr>
          <a:xfrm>
            <a:off x="787400" y="5130800"/>
            <a:ext cx="5029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interrupt() 依赖检查点与正在执行的图并发交互，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在本机环境下会触发原生崩溃；且进程内状态在多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部署下无法共享。改为两阶段：阶段一跑到该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节点即停，状态存进 ai_agent_task；调用 /confirm 时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把确认结果注入初始状态重跑整图。可横向扩展、可审计。</a:t>
            </a:r>
            <a:endParaRPr lang="en-US" sz="850" dirty="0"/>
          </a:p>
        </p:txBody>
      </p:sp>
      <p:sp>
        <p:nvSpPr>
          <p:cNvPr id="53" name="p04-n2"/>
          <p:cNvSpPr/>
          <p:nvPr/>
        </p:nvSpPr>
        <p:spPr>
          <a:xfrm>
            <a:off x="6197600" y="4673600"/>
            <a:ext cx="5384800" cy="147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54" name="p04-n2-t"/>
          <p:cNvSpPr/>
          <p:nvPr/>
        </p:nvSpPr>
        <p:spPr>
          <a:xfrm>
            <a:off x="6375400" y="4826000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重排循环为什么必须设上限</a:t>
            </a:r>
            <a:endParaRPr lang="en-US" sz="950" dirty="0"/>
          </a:p>
        </p:txBody>
      </p:sp>
      <p:sp>
        <p:nvSpPr>
          <p:cNvPr id="55" name="p04-n2-b"/>
          <p:cNvSpPr/>
          <p:nvPr/>
        </p:nvSpPr>
        <p:spPr>
          <a:xfrm>
            <a:off x="6375400" y="5130800"/>
            <a:ext cx="5029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当所有候选方案都不满足约束时，work_order_generation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relax_constraints 会互相触发。早期版本没有上限，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警告列表每轮翻倍，最终耗尽内存。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现在用 relax_count 计数，达到 2 次即转 exception_handler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终止，整图固定 10 步内收敛。</a:t>
            </a:r>
            <a:endParaRPr lang="en-US" sz="850" dirty="0"/>
          </a:p>
        </p:txBody>
      </p:sp>
      <p:sp>
        <p:nvSpPr>
          <p:cNvPr id="56" name="p04-source"/>
          <p:cNvSpPr/>
          <p:nvPr/>
        </p:nvSpPr>
        <p:spPr>
          <a:xfrm>
            <a:off x="609600" y="6273800"/>
            <a:ext cx="1041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依据：graph.py 注册 18 个节点、19 条边语句展开为 25 条具体边、5 组条件边、MAX_RELAX_RETRY = 2（第 43 行）；nodes.py 23 个顶层函数（17 个节点函数 + 6 个辅助函数）。</a:t>
            </a:r>
            <a:endParaRPr lang="en-US" sz="750" dirty="0"/>
          </a:p>
        </p:txBody>
      </p:sp>
      <p:sp>
        <p:nvSpPr>
          <p:cNvPr id="57" name="p04-page"/>
          <p:cNvSpPr/>
          <p:nvPr/>
        </p:nvSpPr>
        <p:spPr>
          <a:xfrm>
            <a:off x="11074400" y="62738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5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八类 AI Agent</a:t>
            </a:r>
            <a:endParaRPr lang="en-US" sz="900" dirty="0"/>
          </a:p>
        </p:txBody>
      </p:sp>
      <p:sp>
        <p:nvSpPr>
          <p:cNvPr id="4" name="p05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 Agent 覆盖四条主线，硬约束在其之上</a:t>
            </a:r>
            <a:endParaRPr lang="en-US" sz="2300" dirty="0"/>
          </a:p>
        </p:txBody>
      </p:sp>
      <p:sp>
        <p:nvSpPr>
          <p:cNvPr id="5" name="p05-gh"/>
          <p:cNvSpPr/>
          <p:nvPr/>
        </p:nvSpPr>
        <p:spPr>
          <a:xfrm>
            <a:off x="609600" y="1346200"/>
            <a:ext cx="1097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Agent（7 类，直接产出业务结果）</a:t>
            </a:r>
            <a:endParaRPr lang="en-US" sz="850" dirty="0"/>
          </a:p>
        </p:txBody>
      </p:sp>
      <p:sp>
        <p:nvSpPr>
          <p:cNvPr id="6" name="p05-a1"/>
          <p:cNvSpPr/>
          <p:nvPr/>
        </p:nvSpPr>
        <p:spPr>
          <a:xfrm>
            <a:off x="609600" y="1625600"/>
            <a:ext cx="2641600" cy="1422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7" name="p05-a1-h"/>
          <p:cNvSpPr/>
          <p:nvPr/>
        </p:nvSpPr>
        <p:spPr>
          <a:xfrm>
            <a:off x="609600" y="1625600"/>
            <a:ext cx="26416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8" name="p05-a1-l"/>
          <p:cNvSpPr/>
          <p:nvPr/>
        </p:nvSpPr>
        <p:spPr>
          <a:xfrm>
            <a:off x="762000" y="16764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01</a:t>
            </a:r>
            <a:endParaRPr lang="en-US" sz="800" dirty="0"/>
          </a:p>
        </p:txBody>
      </p:sp>
      <p:sp>
        <p:nvSpPr>
          <p:cNvPr id="9" name="p05-a1-t"/>
          <p:cNvSpPr/>
          <p:nvPr/>
        </p:nvSpPr>
        <p:spPr>
          <a:xfrm>
            <a:off x="762000" y="20574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智能工单调度</a:t>
            </a:r>
            <a:endParaRPr lang="en-US" sz="1200" dirty="0"/>
          </a:p>
        </p:txBody>
      </p:sp>
      <p:sp>
        <p:nvSpPr>
          <p:cNvPr id="10" name="p05-a1-b"/>
          <p:cNvSpPr/>
          <p:nvPr/>
        </p:nvSpPr>
        <p:spPr>
          <a:xfrm>
            <a:off x="762000" y="2387600"/>
            <a:ext cx="2336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多方案比选 → 人工确认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建单下发，子任务按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公式计算。</a:t>
            </a:r>
            <a:endParaRPr lang="en-US" sz="850" dirty="0"/>
          </a:p>
        </p:txBody>
      </p:sp>
      <p:sp>
        <p:nvSpPr>
          <p:cNvPr id="11" name="p05-a2"/>
          <p:cNvSpPr/>
          <p:nvPr/>
        </p:nvSpPr>
        <p:spPr>
          <a:xfrm>
            <a:off x="3403600" y="1625600"/>
            <a:ext cx="2641600" cy="1422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2" name="p05-a2-h"/>
          <p:cNvSpPr/>
          <p:nvPr/>
        </p:nvSpPr>
        <p:spPr>
          <a:xfrm>
            <a:off x="3403600" y="1625600"/>
            <a:ext cx="26416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3" name="p05-a2-l"/>
          <p:cNvSpPr/>
          <p:nvPr/>
        </p:nvSpPr>
        <p:spPr>
          <a:xfrm>
            <a:off x="3556000" y="16764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02</a:t>
            </a:r>
            <a:endParaRPr lang="en-US" sz="800" dirty="0"/>
          </a:p>
        </p:txBody>
      </p:sp>
      <p:sp>
        <p:nvSpPr>
          <p:cNvPr id="14" name="p05-a2-t"/>
          <p:cNvSpPr/>
          <p:nvPr/>
        </p:nvSpPr>
        <p:spPr>
          <a:xfrm>
            <a:off x="3556000" y="20574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智能故障诊断</a:t>
            </a:r>
            <a:endParaRPr lang="en-US" sz="1200" dirty="0"/>
          </a:p>
        </p:txBody>
      </p:sp>
      <p:sp>
        <p:nvSpPr>
          <p:cNvPr id="15" name="p05-a2-b"/>
          <p:cNvSpPr/>
          <p:nvPr/>
        </p:nvSpPr>
        <p:spPr>
          <a:xfrm>
            <a:off x="3556000" y="2387600"/>
            <a:ext cx="2336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检索知识库 + LLM 增强，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输出故障类别、根因与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处置措施。</a:t>
            </a:r>
            <a:endParaRPr lang="en-US" sz="850" dirty="0"/>
          </a:p>
        </p:txBody>
      </p:sp>
      <p:sp>
        <p:nvSpPr>
          <p:cNvPr id="16" name="p05-a3"/>
          <p:cNvSpPr/>
          <p:nvPr/>
        </p:nvSpPr>
        <p:spPr>
          <a:xfrm>
            <a:off x="6197600" y="1625600"/>
            <a:ext cx="2641600" cy="1422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7" name="p05-a3-h"/>
          <p:cNvSpPr/>
          <p:nvPr/>
        </p:nvSpPr>
        <p:spPr>
          <a:xfrm>
            <a:off x="6197600" y="1625600"/>
            <a:ext cx="26416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8" name="p05-a3-l"/>
          <p:cNvSpPr/>
          <p:nvPr/>
        </p:nvSpPr>
        <p:spPr>
          <a:xfrm>
            <a:off x="6350000" y="16764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03</a:t>
            </a:r>
            <a:endParaRPr lang="en-US" sz="800" dirty="0"/>
          </a:p>
        </p:txBody>
      </p:sp>
      <p:sp>
        <p:nvSpPr>
          <p:cNvPr id="19" name="p05-a3-t"/>
          <p:cNvSpPr/>
          <p:nvPr/>
        </p:nvSpPr>
        <p:spPr>
          <a:xfrm>
            <a:off x="6350000" y="20574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智能巡检报告</a:t>
            </a:r>
            <a:endParaRPr lang="en-US" sz="1200" dirty="0"/>
          </a:p>
        </p:txBody>
      </p:sp>
      <p:sp>
        <p:nvSpPr>
          <p:cNvPr id="20" name="p05-a3-b"/>
          <p:cNvSpPr/>
          <p:nvPr/>
        </p:nvSpPr>
        <p:spPr>
          <a:xfrm>
            <a:off x="6350000" y="2387600"/>
            <a:ext cx="2336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汇总巡检记录与异常项，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生成结构化巡检结论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与整改建议。</a:t>
            </a:r>
            <a:endParaRPr lang="en-US" sz="850" dirty="0"/>
          </a:p>
        </p:txBody>
      </p:sp>
      <p:sp>
        <p:nvSpPr>
          <p:cNvPr id="21" name="p05-a4"/>
          <p:cNvSpPr/>
          <p:nvPr/>
        </p:nvSpPr>
        <p:spPr>
          <a:xfrm>
            <a:off x="8991600" y="1625600"/>
            <a:ext cx="2590800" cy="1422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2" name="p05-a4-h"/>
          <p:cNvSpPr/>
          <p:nvPr/>
        </p:nvSpPr>
        <p:spPr>
          <a:xfrm>
            <a:off x="8991600" y="1625600"/>
            <a:ext cx="25908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3" name="p05-a4-l"/>
          <p:cNvSpPr/>
          <p:nvPr/>
        </p:nvSpPr>
        <p:spPr>
          <a:xfrm>
            <a:off x="9144000" y="16764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04</a:t>
            </a:r>
            <a:endParaRPr lang="en-US" sz="800" dirty="0"/>
          </a:p>
        </p:txBody>
      </p:sp>
      <p:sp>
        <p:nvSpPr>
          <p:cNvPr id="24" name="p05-a4-t"/>
          <p:cNvSpPr/>
          <p:nvPr/>
        </p:nvSpPr>
        <p:spPr>
          <a:xfrm>
            <a:off x="9144000" y="20574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智能运维建议</a:t>
            </a:r>
            <a:endParaRPr lang="en-US" sz="1200" dirty="0"/>
          </a:p>
        </p:txBody>
      </p:sp>
      <p:sp>
        <p:nvSpPr>
          <p:cNvPr id="25" name="p05-a4-b"/>
          <p:cNvSpPr/>
          <p:nvPr/>
        </p:nvSpPr>
        <p:spPr>
          <a:xfrm>
            <a:off x="9144000" y="23876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基于历史工单与故障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分布，给出运维重点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与资源配置建议。</a:t>
            </a:r>
            <a:endParaRPr lang="en-US" sz="850" dirty="0"/>
          </a:p>
        </p:txBody>
      </p:sp>
      <p:sp>
        <p:nvSpPr>
          <p:cNvPr id="26" name="p05-a5"/>
          <p:cNvSpPr/>
          <p:nvPr/>
        </p:nvSpPr>
        <p:spPr>
          <a:xfrm>
            <a:off x="609600" y="3200400"/>
            <a:ext cx="26416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7" name="p05-a5-h"/>
          <p:cNvSpPr/>
          <p:nvPr/>
        </p:nvSpPr>
        <p:spPr>
          <a:xfrm>
            <a:off x="609600" y="3200400"/>
            <a:ext cx="26416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8" name="p05-a5-l"/>
          <p:cNvSpPr/>
          <p:nvPr/>
        </p:nvSpPr>
        <p:spPr>
          <a:xfrm>
            <a:off x="762000" y="32512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05</a:t>
            </a:r>
            <a:endParaRPr lang="en-US" sz="800" dirty="0"/>
          </a:p>
        </p:txBody>
      </p:sp>
      <p:sp>
        <p:nvSpPr>
          <p:cNvPr id="29" name="p05-a5-t"/>
          <p:cNvSpPr/>
          <p:nvPr/>
        </p:nvSpPr>
        <p:spPr>
          <a:xfrm>
            <a:off x="762000" y="36322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智能风控</a:t>
            </a:r>
            <a:endParaRPr lang="en-US" sz="1200" dirty="0"/>
          </a:p>
        </p:txBody>
      </p:sp>
      <p:sp>
        <p:nvSpPr>
          <p:cNvPr id="30" name="p05-a5-b"/>
          <p:cNvSpPr/>
          <p:nvPr/>
        </p:nvSpPr>
        <p:spPr>
          <a:xfrm>
            <a:off x="762000" y="3962400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识别超期、高频故障、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低效巡检等风险信号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并给出等级。</a:t>
            </a:r>
            <a:endParaRPr lang="en-US" sz="850" dirty="0"/>
          </a:p>
        </p:txBody>
      </p:sp>
      <p:sp>
        <p:nvSpPr>
          <p:cNvPr id="31" name="p05-a6"/>
          <p:cNvSpPr/>
          <p:nvPr/>
        </p:nvSpPr>
        <p:spPr>
          <a:xfrm>
            <a:off x="3403600" y="3200400"/>
            <a:ext cx="26416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2" name="p05-a6-h"/>
          <p:cNvSpPr/>
          <p:nvPr/>
        </p:nvSpPr>
        <p:spPr>
          <a:xfrm>
            <a:off x="3403600" y="3200400"/>
            <a:ext cx="26416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33" name="p05-a6-l"/>
          <p:cNvSpPr/>
          <p:nvPr/>
        </p:nvSpPr>
        <p:spPr>
          <a:xfrm>
            <a:off x="3556000" y="32512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06</a:t>
            </a:r>
            <a:endParaRPr lang="en-US" sz="800" dirty="0"/>
          </a:p>
        </p:txBody>
      </p:sp>
      <p:sp>
        <p:nvSpPr>
          <p:cNvPr id="34" name="p05-a6-t"/>
          <p:cNvSpPr/>
          <p:nvPr/>
        </p:nvSpPr>
        <p:spPr>
          <a:xfrm>
            <a:off x="3556000" y="36322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智能报告</a:t>
            </a:r>
            <a:endParaRPr lang="en-US" sz="1200" dirty="0"/>
          </a:p>
        </p:txBody>
      </p:sp>
      <p:sp>
        <p:nvSpPr>
          <p:cNvPr id="35" name="p05-a6-b"/>
          <p:cNvSpPr/>
          <p:nvPr/>
        </p:nvSpPr>
        <p:spPr>
          <a:xfrm>
            <a:off x="3556000" y="3962400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 / 周 / 月 / 即时四类，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六大内容模块固定，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支持追问与历史对比。</a:t>
            </a:r>
            <a:endParaRPr lang="en-US" sz="850" dirty="0"/>
          </a:p>
        </p:txBody>
      </p:sp>
      <p:sp>
        <p:nvSpPr>
          <p:cNvPr id="36" name="p05-a7"/>
          <p:cNvSpPr/>
          <p:nvPr/>
        </p:nvSpPr>
        <p:spPr>
          <a:xfrm>
            <a:off x="6197600" y="3200400"/>
            <a:ext cx="26416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7" name="p05-a7-h"/>
          <p:cNvSpPr/>
          <p:nvPr/>
        </p:nvSpPr>
        <p:spPr>
          <a:xfrm>
            <a:off x="6197600" y="3200400"/>
            <a:ext cx="2641600" cy="304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38" name="p05-a7-l"/>
          <p:cNvSpPr/>
          <p:nvPr/>
        </p:nvSpPr>
        <p:spPr>
          <a:xfrm>
            <a:off x="6350000" y="32512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07</a:t>
            </a:r>
            <a:endParaRPr lang="en-US" sz="800" dirty="0"/>
          </a:p>
        </p:txBody>
      </p:sp>
      <p:sp>
        <p:nvSpPr>
          <p:cNvPr id="39" name="p05-a7-t"/>
          <p:cNvSpPr/>
          <p:nvPr/>
        </p:nvSpPr>
        <p:spPr>
          <a:xfrm>
            <a:off x="6350000" y="36322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智能数据分析</a:t>
            </a:r>
            <a:endParaRPr lang="en-US" sz="1200" dirty="0"/>
          </a:p>
        </p:txBody>
      </p:sp>
      <p:sp>
        <p:nvSpPr>
          <p:cNvPr id="40" name="p05-a7-b"/>
          <p:cNvSpPr/>
          <p:nvPr/>
        </p:nvSpPr>
        <p:spPr>
          <a:xfrm>
            <a:off x="6350000" y="3962400"/>
            <a:ext cx="233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对统计日表做趋势、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对比与下钻分析，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支撑看板结论。</a:t>
            </a:r>
            <a:endParaRPr lang="en-US" sz="850" dirty="0"/>
          </a:p>
        </p:txBody>
      </p:sp>
      <p:sp>
        <p:nvSpPr>
          <p:cNvPr id="41" name="p05-a8"/>
          <p:cNvSpPr/>
          <p:nvPr/>
        </p:nvSpPr>
        <p:spPr>
          <a:xfrm>
            <a:off x="8991600" y="3200400"/>
            <a:ext cx="2590800" cy="1371600"/>
          </a:xfrm>
          <a:prstGeom prst="rect">
            <a:avLst/>
          </a:prstGeom>
          <a:solidFill>
            <a:srgbClr val="B5392A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42" name="p05-a8-l"/>
          <p:cNvSpPr/>
          <p:nvPr/>
        </p:nvSpPr>
        <p:spPr>
          <a:xfrm>
            <a:off x="9144000" y="33528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08 / 编排</a:t>
            </a:r>
            <a:endParaRPr lang="en-US" sz="800" dirty="0"/>
          </a:p>
        </p:txBody>
      </p:sp>
      <p:sp>
        <p:nvSpPr>
          <p:cNvPr id="43" name="p05-a8-t"/>
          <p:cNvSpPr/>
          <p:nvPr/>
        </p:nvSpPr>
        <p:spPr>
          <a:xfrm>
            <a:off x="9144000" y="3657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200" dirty="0"/>
          </a:p>
        </p:txBody>
      </p:sp>
      <p:sp>
        <p:nvSpPr>
          <p:cNvPr id="44" name="p05-a8-b"/>
          <p:cNvSpPr/>
          <p:nvPr/>
        </p:nvSpPr>
        <p:spPr>
          <a:xfrm>
            <a:off x="9144000" y="3962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不是业务 Agent，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而是调度其它 Agent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的编排角色。</a:t>
            </a:r>
            <a:endParaRPr lang="en-US" sz="850" dirty="0"/>
          </a:p>
        </p:txBody>
      </p:sp>
      <p:sp>
        <p:nvSpPr>
          <p:cNvPr id="45" name="p05-band"/>
          <p:cNvSpPr/>
          <p:nvPr/>
        </p:nvSpPr>
        <p:spPr>
          <a:xfrm>
            <a:off x="609600" y="4927600"/>
            <a:ext cx="10972800" cy="6096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46" name="p05-band-label"/>
          <p:cNvSpPr/>
          <p:nvPr/>
        </p:nvSpPr>
        <p:spPr>
          <a:xfrm>
            <a:off x="838200" y="51054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分层原则</a:t>
            </a:r>
            <a:endParaRPr lang="en-US" sz="850" dirty="0"/>
          </a:p>
        </p:txBody>
      </p:sp>
      <p:sp>
        <p:nvSpPr>
          <p:cNvPr id="47" name="p05-band-text"/>
          <p:cNvSpPr/>
          <p:nvPr/>
        </p:nvSpPr>
        <p:spPr>
          <a:xfrm>
            <a:off x="2667000" y="5054600"/>
            <a:ext cx="871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只负责「生成与解释」，可行性由硬约束与求解器保证 —— 换更强的模型也不会改变方案的可行性结论。</a:t>
            </a:r>
            <a:endParaRPr lang="en-US" sz="1250" dirty="0"/>
          </a:p>
        </p:txBody>
      </p:sp>
      <p:sp>
        <p:nvSpPr>
          <p:cNvPr id="48" name="p05-llm"/>
          <p:cNvSpPr/>
          <p:nvPr/>
        </p:nvSpPr>
        <p:spPr>
          <a:xfrm>
            <a:off x="609600" y="5689600"/>
            <a:ext cx="1097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接入现状：provider = deepseek，model = deepseek-chat，健康检查 status = ok（/api/v1/ai/health 实测）。未配置 API Key 时自动降级为规则引擎，功能不中断。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知识库检索：VECTOR_STORE=local 时使用内置 TF-IDF + 余弦相似度，中文按 bigram 切分以提升召回，无需外部向量库依赖。</a:t>
            </a:r>
            <a:endParaRPr lang="en-US" sz="850" dirty="0"/>
          </a:p>
        </p:txBody>
      </p:sp>
      <p:sp>
        <p:nvSpPr>
          <p:cNvPr id="49" name="p05-source"/>
          <p:cNvSpPr/>
          <p:nvPr/>
        </p:nvSpPr>
        <p:spPr>
          <a:xfrm>
            <a:off x="609600" y="6502400"/>
            <a:ext cx="1097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依据：backend/app/core/enums.py 第 111-119 行 AgentType 枚举；backend/app/ai/knowledge.py；GET /api/v1/ai/health 实测返回。</a:t>
            </a:r>
            <a:endParaRPr lang="en-US" sz="750" dirty="0"/>
          </a:p>
        </p:txBody>
      </p:sp>
      <p:sp>
        <p:nvSpPr>
          <p:cNvPr id="50" name="p05-page"/>
          <p:cNvSpPr/>
          <p:nvPr/>
        </p:nvSpPr>
        <p:spPr>
          <a:xfrm>
            <a:off x="11074400" y="355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6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数据权限隔离</a:t>
            </a:r>
            <a:endParaRPr lang="en-US" sz="900" dirty="0"/>
          </a:p>
        </p:txBody>
      </p:sp>
      <p:sp>
        <p:nvSpPr>
          <p:cNvPr id="4" name="p06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四种数据范围，由小到大逐级放大可见面</a:t>
            </a:r>
            <a:endParaRPr lang="en-US" sz="2300" dirty="0"/>
          </a:p>
        </p:txBody>
      </p:sp>
      <p:sp>
        <p:nvSpPr>
          <p:cNvPr id="5" name="p06-axis"/>
          <p:cNvSpPr/>
          <p:nvPr/>
        </p:nvSpPr>
        <p:spPr>
          <a:xfrm>
            <a:off x="1016000" y="3810000"/>
            <a:ext cx="10160000" cy="0"/>
          </a:xfrm>
          <a:prstGeom prst="line">
            <a:avLst/>
          </a:prstGeom>
          <a:noFill/>
          <a:ln w="19050">
            <a:solidFill>
              <a:srgbClr val="252824"/>
            </a:solidFill>
            <a:prstDash val="solid"/>
          </a:ln>
        </p:spPr>
      </p:sp>
      <p:sp>
        <p:nvSpPr>
          <p:cNvPr id="6" name="p06-s1"/>
          <p:cNvSpPr/>
          <p:nvPr/>
        </p:nvSpPr>
        <p:spPr>
          <a:xfrm>
            <a:off x="1016000" y="2133600"/>
            <a:ext cx="2133600" cy="167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7" name="p06-s1-h"/>
          <p:cNvSpPr/>
          <p:nvPr/>
        </p:nvSpPr>
        <p:spPr>
          <a:xfrm>
            <a:off x="1016000" y="2133600"/>
            <a:ext cx="21336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8" name="p06-s1-l"/>
          <p:cNvSpPr/>
          <p:nvPr/>
        </p:nvSpPr>
        <p:spPr>
          <a:xfrm>
            <a:off x="1168400" y="2184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 0</a:t>
            </a:r>
            <a:endParaRPr lang="en-US" sz="800" dirty="0"/>
          </a:p>
        </p:txBody>
      </p:sp>
      <p:sp>
        <p:nvSpPr>
          <p:cNvPr id="9" name="p06-s1-t"/>
          <p:cNvSpPr/>
          <p:nvPr/>
        </p:nvSpPr>
        <p:spPr>
          <a:xfrm>
            <a:off x="1168400" y="2590800"/>
            <a:ext cx="182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个人数据</a:t>
            </a:r>
            <a:endParaRPr lang="en-US" sz="1300" dirty="0"/>
          </a:p>
        </p:txBody>
      </p:sp>
      <p:sp>
        <p:nvSpPr>
          <p:cNvPr id="10" name="p06-s1-b"/>
          <p:cNvSpPr/>
          <p:nvPr/>
        </p:nvSpPr>
        <p:spPr>
          <a:xfrm>
            <a:off x="1168400" y="2946400"/>
            <a:ext cx="182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只看自己的工单、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巡检与故障记录。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运维人员的默认范围。</a:t>
            </a:r>
            <a:endParaRPr lang="en-US" sz="850" dirty="0"/>
          </a:p>
        </p:txBody>
      </p:sp>
      <p:sp>
        <p:nvSpPr>
          <p:cNvPr id="11" name="p06-s2"/>
          <p:cNvSpPr/>
          <p:nvPr/>
        </p:nvSpPr>
        <p:spPr>
          <a:xfrm>
            <a:off x="3657600" y="1828800"/>
            <a:ext cx="2133600" cy="1981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2" name="p06-s2-h"/>
          <p:cNvSpPr/>
          <p:nvPr/>
        </p:nvSpPr>
        <p:spPr>
          <a:xfrm>
            <a:off x="3657600" y="1828800"/>
            <a:ext cx="21336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3" name="p06-s2-l"/>
          <p:cNvSpPr/>
          <p:nvPr/>
        </p:nvSpPr>
        <p:spPr>
          <a:xfrm>
            <a:off x="3810000" y="1879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 1</a:t>
            </a:r>
            <a:endParaRPr lang="en-US" sz="800" dirty="0"/>
          </a:p>
        </p:txBody>
      </p:sp>
      <p:sp>
        <p:nvSpPr>
          <p:cNvPr id="14" name="p06-s2-t"/>
          <p:cNvSpPr/>
          <p:nvPr/>
        </p:nvSpPr>
        <p:spPr>
          <a:xfrm>
            <a:off x="3810000" y="2286000"/>
            <a:ext cx="182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站点数据</a:t>
            </a:r>
            <a:endParaRPr lang="en-US" sz="1300" dirty="0"/>
          </a:p>
        </p:txBody>
      </p:sp>
      <p:sp>
        <p:nvSpPr>
          <p:cNvPr id="15" name="p06-s2-b"/>
          <p:cNvSpPr/>
          <p:nvPr/>
        </p:nvSpPr>
        <p:spPr>
          <a:xfrm>
            <a:off x="3810000" y="2641600"/>
            <a:ext cx="182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本站点范围内全部记录。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站点管理员用这个范围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管理本站在岗人员与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设备台账。</a:t>
            </a:r>
            <a:endParaRPr lang="en-US" sz="850" dirty="0"/>
          </a:p>
        </p:txBody>
      </p:sp>
      <p:sp>
        <p:nvSpPr>
          <p:cNvPr id="16" name="p06-s3"/>
          <p:cNvSpPr/>
          <p:nvPr/>
        </p:nvSpPr>
        <p:spPr>
          <a:xfrm>
            <a:off x="6299200" y="1524000"/>
            <a:ext cx="21336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7" name="p06-s3-h"/>
          <p:cNvSpPr/>
          <p:nvPr/>
        </p:nvSpPr>
        <p:spPr>
          <a:xfrm>
            <a:off x="6299200" y="1524000"/>
            <a:ext cx="21336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8" name="p06-s3-l"/>
          <p:cNvSpPr/>
          <p:nvPr/>
        </p:nvSpPr>
        <p:spPr>
          <a:xfrm>
            <a:off x="6451600" y="157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 2</a:t>
            </a:r>
            <a:endParaRPr lang="en-US" sz="800" dirty="0"/>
          </a:p>
        </p:txBody>
      </p:sp>
      <p:sp>
        <p:nvSpPr>
          <p:cNvPr id="19" name="p06-s3-t"/>
          <p:cNvSpPr/>
          <p:nvPr/>
        </p:nvSpPr>
        <p:spPr>
          <a:xfrm>
            <a:off x="6451600" y="1981200"/>
            <a:ext cx="182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项目数据</a:t>
            </a:r>
            <a:endParaRPr lang="en-US" sz="1300" dirty="0"/>
          </a:p>
        </p:txBody>
      </p:sp>
      <p:sp>
        <p:nvSpPr>
          <p:cNvPr id="20" name="p06-s3-b"/>
          <p:cNvSpPr/>
          <p:nvPr/>
        </p:nvSpPr>
        <p:spPr>
          <a:xfrm>
            <a:off x="6451600" y="2336800"/>
            <a:ext cx="1828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项目下所有站点。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项目管理员可跨站点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调度人员、分配工单，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并查看项目级统计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与报告。</a:t>
            </a:r>
            <a:endParaRPr lang="en-US" sz="850" dirty="0"/>
          </a:p>
        </p:txBody>
      </p:sp>
      <p:sp>
        <p:nvSpPr>
          <p:cNvPr id="21" name="p06-s4"/>
          <p:cNvSpPr/>
          <p:nvPr/>
        </p:nvSpPr>
        <p:spPr>
          <a:xfrm>
            <a:off x="8940800" y="1219200"/>
            <a:ext cx="2235200" cy="2590800"/>
          </a:xfrm>
          <a:prstGeom prst="rect">
            <a:avLst/>
          </a:prstGeom>
          <a:solidFill>
            <a:srgbClr val="B5392A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2" name="p06-s4-l"/>
          <p:cNvSpPr/>
          <p:nvPr/>
        </p:nvSpPr>
        <p:spPr>
          <a:xfrm>
            <a:off x="9093200" y="1397000"/>
            <a:ext cx="193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 3</a:t>
            </a:r>
            <a:endParaRPr lang="en-US" sz="800" dirty="0"/>
          </a:p>
        </p:txBody>
      </p:sp>
      <p:sp>
        <p:nvSpPr>
          <p:cNvPr id="23" name="p06-s4-t"/>
          <p:cNvSpPr/>
          <p:nvPr/>
        </p:nvSpPr>
        <p:spPr>
          <a:xfrm>
            <a:off x="9093200" y="1727200"/>
            <a:ext cx="1930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平台数据</a:t>
            </a:r>
            <a:endParaRPr lang="en-US" sz="1300" dirty="0"/>
          </a:p>
        </p:txBody>
      </p:sp>
      <p:sp>
        <p:nvSpPr>
          <p:cNvPr id="24" name="p06-s4-b"/>
          <p:cNvSpPr/>
          <p:nvPr/>
        </p:nvSpPr>
        <p:spPr>
          <a:xfrm>
            <a:off x="9093200" y="2082800"/>
            <a:ext cx="19304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全平台所有项目与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站点。平台管理员，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用于跨项目对比、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配置规则版本、管理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用户与权限。</a:t>
            </a:r>
            <a:endParaRPr lang="en-US" sz="850" dirty="0"/>
          </a:p>
        </p:txBody>
      </p:sp>
      <p:sp>
        <p:nvSpPr>
          <p:cNvPr id="25" name="p06-arrow"/>
          <p:cNvSpPr/>
          <p:nvPr/>
        </p:nvSpPr>
        <p:spPr>
          <a:xfrm>
            <a:off x="1016000" y="3886200"/>
            <a:ext cx="1016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可见范围：个人 → 站点 → 项目 → 平台（DATA_SCOPE_ORDER 用于越权判断）</a:t>
            </a:r>
            <a:endParaRPr lang="en-US" sz="850" dirty="0"/>
          </a:p>
        </p:txBody>
      </p:sp>
      <p:sp>
        <p:nvSpPr>
          <p:cNvPr id="26" name="p06-n1"/>
          <p:cNvSpPr/>
          <p:nvPr/>
        </p:nvSpPr>
        <p:spPr>
          <a:xfrm>
            <a:off x="609600" y="4318000"/>
            <a:ext cx="5384800" cy="116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7" name="p06-n1-t"/>
          <p:cNvSpPr/>
          <p:nvPr/>
        </p:nvSpPr>
        <p:spPr>
          <a:xfrm>
            <a:off x="787400" y="4470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权限怎么判定</a:t>
            </a:r>
            <a:endParaRPr lang="en-US" sz="850" dirty="0"/>
          </a:p>
        </p:txBody>
      </p:sp>
      <p:sp>
        <p:nvSpPr>
          <p:cNvPr id="28" name="p06-n1-b"/>
          <p:cNvSpPr/>
          <p:nvPr/>
        </p:nvSpPr>
        <p:spPr>
          <a:xfrm>
            <a:off x="787400" y="4749800"/>
            <a:ext cx="502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有效权限 = 所有启用角色权限的并集，且权限点自身也须启用。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用户无任何角色时权限为空集，所有受保护接口返回 403。</a:t>
            </a:r>
            <a:endParaRPr lang="en-US" sz="850" dirty="0"/>
          </a:p>
        </p:txBody>
      </p:sp>
      <p:sp>
        <p:nvSpPr>
          <p:cNvPr id="29" name="p06-n2"/>
          <p:cNvSpPr/>
          <p:nvPr/>
        </p:nvSpPr>
        <p:spPr>
          <a:xfrm>
            <a:off x="6197600" y="4318000"/>
            <a:ext cx="5384800" cy="116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30" name="p06-n2-t"/>
          <p:cNvSpPr/>
          <p:nvPr/>
        </p:nvSpPr>
        <p:spPr>
          <a:xfrm>
            <a:off x="6375400" y="4470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三个易错点</a:t>
            </a:r>
            <a:endParaRPr lang="en-US" sz="850" dirty="0"/>
          </a:p>
        </p:txBody>
      </p:sp>
      <p:sp>
        <p:nvSpPr>
          <p:cNvPr id="31" name="p06-n2-b"/>
          <p:cNvSpPr/>
          <p:nvPr/>
        </p:nvSpPr>
        <p:spPr>
          <a:xfrm>
            <a:off x="6375400" y="4749800"/>
            <a:ext cx="502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角色被停用 → 该角色贡献的权限整块失效（不是取最严）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权限点被停用 → 即使角色仍引用它也不生效</a:t>
            </a:r>
            <a:endParaRPr lang="en-US" sz="850" dirty="0"/>
          </a:p>
        </p:txBody>
      </p:sp>
      <p:sp>
        <p:nvSpPr>
          <p:cNvPr id="32" name="p06-band"/>
          <p:cNvSpPr/>
          <p:nvPr/>
        </p:nvSpPr>
        <p:spPr>
          <a:xfrm>
            <a:off x="609600" y="5689600"/>
            <a:ext cx="10972800" cy="584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33" name="p06-band-text"/>
          <p:cNvSpPr/>
          <p:nvPr/>
        </p:nvSpPr>
        <p:spPr>
          <a:xfrm>
            <a:off x="838200" y="5765800"/>
            <a:ext cx="10515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前端的菜单裁剪与按钮隐藏只是体验优化 —— 最终防线是后端的 require_permission()。</a:t>
            </a:r>
            <a:endParaRPr lang="en-US" sz="1250" dirty="0"/>
          </a:p>
        </p:txBody>
      </p:sp>
      <p:sp>
        <p:nvSpPr>
          <p:cNvPr id="34" name="p06-source"/>
          <p:cNvSpPr/>
          <p:nvPr/>
        </p:nvSpPr>
        <p:spPr>
          <a:xfrm>
            <a:off x="609600" y="6375400"/>
            <a:ext cx="1041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依据：backend/app/core/enums.py 的 DataScope 枚举与 DATA_SCOPE_ORDER；backend/app/services/rbac.py 为权限判定的唯一实现处。</a:t>
            </a:r>
            <a:endParaRPr lang="en-US" sz="750" dirty="0"/>
          </a:p>
        </p:txBody>
      </p:sp>
      <p:sp>
        <p:nvSpPr>
          <p:cNvPr id="35" name="p06-page"/>
          <p:cNvSpPr/>
          <p:nvPr/>
        </p:nvSpPr>
        <p:spPr>
          <a:xfrm>
            <a:off x="11074400" y="63754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7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验证结果</a:t>
            </a:r>
            <a:endParaRPr lang="en-US" sz="900" dirty="0"/>
          </a:p>
        </p:txBody>
      </p:sp>
      <p:sp>
        <p:nvSpPr>
          <p:cNvPr id="4" name="p07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 项验证全部通过，三套脚本可重复执行</a:t>
            </a:r>
            <a:endParaRPr lang="en-US" sz="2300" dirty="0"/>
          </a:p>
        </p:txBody>
      </p:sp>
      <p:sp>
        <p:nvSpPr>
          <p:cNvPr id="5" name="p07-k1"/>
          <p:cNvSpPr/>
          <p:nvPr/>
        </p:nvSpPr>
        <p:spPr>
          <a:xfrm>
            <a:off x="609600" y="1371600"/>
            <a:ext cx="3505200" cy="11684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6" name="p07-k1-n"/>
          <p:cNvSpPr/>
          <p:nvPr/>
        </p:nvSpPr>
        <p:spPr>
          <a:xfrm>
            <a:off x="812800" y="1524000"/>
            <a:ext cx="309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3200" dirty="0"/>
          </a:p>
        </p:txBody>
      </p:sp>
      <p:sp>
        <p:nvSpPr>
          <p:cNvPr id="7" name="p07-k1-l"/>
          <p:cNvSpPr/>
          <p:nvPr/>
        </p:nvSpPr>
        <p:spPr>
          <a:xfrm>
            <a:off x="812800" y="2057400"/>
            <a:ext cx="309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后端冒烟测试</a:t>
            </a:r>
            <a:endParaRPr lang="en-US" sz="900" dirty="0"/>
          </a:p>
        </p:txBody>
      </p:sp>
      <p:sp>
        <p:nvSpPr>
          <p:cNvPr id="8" name="p07-k1-note"/>
          <p:cNvSpPr/>
          <p:nvPr/>
        </p:nvSpPr>
        <p:spPr>
          <a:xfrm>
            <a:off x="812800" y="2286000"/>
            <a:ext cx="309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A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smoke_test.py · 自建独立库与服务</a:t>
            </a:r>
            <a:endParaRPr lang="en-US" sz="750" dirty="0"/>
          </a:p>
        </p:txBody>
      </p:sp>
      <p:sp>
        <p:nvSpPr>
          <p:cNvPr id="9" name="p07-k2"/>
          <p:cNvSpPr/>
          <p:nvPr/>
        </p:nvSpPr>
        <p:spPr>
          <a:xfrm>
            <a:off x="4343400" y="1371600"/>
            <a:ext cx="3505200" cy="116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0" name="p07-k2-n"/>
          <p:cNvSpPr/>
          <p:nvPr/>
        </p:nvSpPr>
        <p:spPr>
          <a:xfrm>
            <a:off x="4546600" y="1524000"/>
            <a:ext cx="309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200" dirty="0"/>
          </a:p>
        </p:txBody>
      </p:sp>
      <p:sp>
        <p:nvSpPr>
          <p:cNvPr id="11" name="p07-k2-l"/>
          <p:cNvSpPr/>
          <p:nvPr/>
        </p:nvSpPr>
        <p:spPr>
          <a:xfrm>
            <a:off x="4546600" y="2057400"/>
            <a:ext cx="309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真实服务联调</a:t>
            </a:r>
            <a:endParaRPr lang="en-US" sz="900" dirty="0"/>
          </a:p>
        </p:txBody>
      </p:sp>
      <p:sp>
        <p:nvSpPr>
          <p:cNvPr id="12" name="p07-k2-note"/>
          <p:cNvSpPr/>
          <p:nvPr/>
        </p:nvSpPr>
        <p:spPr>
          <a:xfrm>
            <a:off x="4546600" y="2286000"/>
            <a:ext cx="309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verify_live.py · 打真实 8010 / 5185</a:t>
            </a:r>
            <a:endParaRPr lang="en-US" sz="750" dirty="0"/>
          </a:p>
        </p:txBody>
      </p:sp>
      <p:sp>
        <p:nvSpPr>
          <p:cNvPr id="13" name="p07-k3"/>
          <p:cNvSpPr/>
          <p:nvPr/>
        </p:nvSpPr>
        <p:spPr>
          <a:xfrm>
            <a:off x="8077200" y="1371600"/>
            <a:ext cx="3505200" cy="116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14" name="p07-k3-n"/>
          <p:cNvSpPr/>
          <p:nvPr/>
        </p:nvSpPr>
        <p:spPr>
          <a:xfrm>
            <a:off x="8280400" y="1524000"/>
            <a:ext cx="309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5" name="p07-k3-l"/>
          <p:cNvSpPr/>
          <p:nvPr/>
        </p:nvSpPr>
        <p:spPr>
          <a:xfrm>
            <a:off x="8280400" y="2057400"/>
            <a:ext cx="309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前端模块编译</a:t>
            </a:r>
            <a:endParaRPr lang="en-US" sz="900" dirty="0"/>
          </a:p>
        </p:txBody>
      </p:sp>
      <p:sp>
        <p:nvSpPr>
          <p:cNvPr id="16" name="p07-k3-note"/>
          <p:cNvSpPr/>
          <p:nvPr/>
        </p:nvSpPr>
        <p:spPr>
          <a:xfrm>
            <a:off x="8280400" y="2286000"/>
            <a:ext cx="309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verify_frontend.py · Vite 实时转换</a:t>
            </a:r>
            <a:endParaRPr lang="en-US" sz="750" dirty="0"/>
          </a:p>
        </p:txBody>
      </p:sp>
      <p:sp>
        <p:nvSpPr>
          <p:cNvPr id="17" name="p07-div"/>
          <p:cNvSpPr/>
          <p:nvPr/>
        </p:nvSpPr>
        <p:spPr>
          <a:xfrm>
            <a:off x="609600" y="2768600"/>
            <a:ext cx="1097280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</a:ln>
        </p:spPr>
      </p:sp>
      <p:sp>
        <p:nvSpPr>
          <p:cNvPr id="18" name="p07-l1"/>
          <p:cNvSpPr/>
          <p:nvPr/>
        </p:nvSpPr>
        <p:spPr>
          <a:xfrm>
            <a:off x="609600" y="2971800"/>
            <a:ext cx="635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后端冒烟测试覆盖的关键点</a:t>
            </a:r>
            <a:endParaRPr lang="en-US" sz="850" dirty="0"/>
          </a:p>
        </p:txBody>
      </p:sp>
      <p:sp>
        <p:nvSpPr>
          <p:cNvPr id="19" name="p07-list"/>
          <p:cNvSpPr/>
          <p:nvPr/>
        </p:nvSpPr>
        <p:spPr>
          <a:xfrm>
            <a:off x="609600" y="3251200"/>
            <a:ext cx="6350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认证与鉴权：登录、错误密码、停用账号、权限菜单、数据范围隔离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工单闭环：三类公式校验、状态机非法迁移拦截、接单、退回、取消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子任务与巡检：200 字限制、巡检详情、Excel 导出与下载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故障闭环：草稿保存、确认上报、高风险关键词自动判定危急、核查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附件上传：多图上传、静态可访问、非法类型拒绝、归属回填业务单据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负向用例：不存在的静态文件返回 404 而非 500；不存在的 API 返回统一 JSON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Agent：完整工作流（10 个节点追踪）、多方案比选、挂起待确认、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确认后建单下发、故障诊断、报告生成、追问下钻、历史对比</a:t>
            </a:r>
            <a:endParaRPr lang="en-US" sz="850" dirty="0"/>
          </a:p>
        </p:txBody>
      </p:sp>
      <p:sp>
        <p:nvSpPr>
          <p:cNvPr id="20" name="p07-right"/>
          <p:cNvSpPr/>
          <p:nvPr/>
        </p:nvSpPr>
        <p:spPr>
          <a:xfrm>
            <a:off x="7213600" y="2971800"/>
            <a:ext cx="4368800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1" name="p07-right-h"/>
          <p:cNvSpPr/>
          <p:nvPr/>
        </p:nvSpPr>
        <p:spPr>
          <a:xfrm>
            <a:off x="7213600" y="2971800"/>
            <a:ext cx="43688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2" name="p07-right-l"/>
          <p:cNvSpPr/>
          <p:nvPr/>
        </p:nvSpPr>
        <p:spPr>
          <a:xfrm>
            <a:off x="7391400" y="30226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联调真实验证到的链路</a:t>
            </a:r>
            <a:endParaRPr lang="en-US" sz="850" dirty="0"/>
          </a:p>
        </p:txBody>
      </p:sp>
      <p:sp>
        <p:nvSpPr>
          <p:cNvPr id="23" name="p07-right-b"/>
          <p:cNvSpPr/>
          <p:nvPr/>
        </p:nvSpPr>
        <p:spPr>
          <a:xfrm>
            <a:off x="7416800" y="3454400"/>
            <a:ext cx="401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接口数 103（活服务 /openapi.json 实测）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LangGraph 工作流挂起于「待人工确认」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节点追踪落库 10 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多方案比选（选中方案 A，得分 69.09）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人工确认后建单：8 个子任务、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覆盖 8 个站点、通知 6 人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故障诊断 LLM 增强 = True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RAG 检索命中 3 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报告生成 6 大内容模块齐全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Excel 导出 116 行可下载</a:t>
            </a:r>
            <a:endParaRPr lang="en-US" sz="850" dirty="0"/>
          </a:p>
        </p:txBody>
      </p:sp>
      <p:sp>
        <p:nvSpPr>
          <p:cNvPr id="24" name="p07-band"/>
          <p:cNvSpPr/>
          <p:nvPr/>
        </p:nvSpPr>
        <p:spPr>
          <a:xfrm>
            <a:off x="609600" y="5867400"/>
            <a:ext cx="10972800" cy="5588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25" name="p07-band-text"/>
          <p:cNvSpPr/>
          <p:nvPr/>
        </p:nvSpPr>
        <p:spPr>
          <a:xfrm>
            <a:off x="838200" y="5943600"/>
            <a:ext cx="1051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所谓可重复，是指连续跑两遍结果一致 —— 这本身就证明了写操作的幂等性。</a:t>
            </a:r>
            <a:endParaRPr lang="en-US" sz="1250" dirty="0"/>
          </a:p>
        </p:txBody>
      </p:sp>
      <p:sp>
        <p:nvSpPr>
          <p:cNvPr id="26" name="p07-source"/>
          <p:cNvSpPr/>
          <p:nvPr/>
        </p:nvSpPr>
        <p:spPr>
          <a:xfrm>
            <a:off x="609600" y="6502400"/>
            <a:ext cx="1041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数据来源：backend/smoke_report.txt（PASS 96 / FAIL 0 / exit 0）、verify_live.py 与 verify_frontend.py 终端输出；接口数取自 GET /openapi.json。</a:t>
            </a:r>
            <a:endParaRPr lang="en-US" sz="750" dirty="0"/>
          </a:p>
        </p:txBody>
      </p:sp>
      <p:sp>
        <p:nvSpPr>
          <p:cNvPr id="27" name="p07-page"/>
          <p:cNvSpPr/>
          <p:nvPr/>
        </p:nvSpPr>
        <p:spPr>
          <a:xfrm>
            <a:off x="11074400" y="65024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8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已知限制</a:t>
            </a:r>
            <a:endParaRPr lang="en-US" sz="900" dirty="0"/>
          </a:p>
        </p:txBody>
      </p:sp>
      <p:sp>
        <p:nvSpPr>
          <p:cNvPr id="4" name="p08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能力边界如实标注，不用示例数据撑场面</a:t>
            </a:r>
            <a:endParaRPr lang="en-US" sz="2300" dirty="0"/>
          </a:p>
        </p:txBody>
      </p:sp>
      <p:sp>
        <p:nvSpPr>
          <p:cNvPr id="5" name="p08-g1"/>
          <p:cNvSpPr/>
          <p:nvPr/>
        </p:nvSpPr>
        <p:spPr>
          <a:xfrm>
            <a:off x="609600" y="1346200"/>
            <a:ext cx="5384800" cy="149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5392A"/>
            </a:solidFill>
            <a:prstDash val="solid"/>
          </a:ln>
        </p:spPr>
      </p:sp>
      <p:sp>
        <p:nvSpPr>
          <p:cNvPr id="6" name="p08-g1-h"/>
          <p:cNvSpPr/>
          <p:nvPr/>
        </p:nvSpPr>
        <p:spPr>
          <a:xfrm>
            <a:off x="609600" y="1346200"/>
            <a:ext cx="5384800" cy="3302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7" name="p08-g1-l"/>
          <p:cNvSpPr/>
          <p:nvPr/>
        </p:nvSpPr>
        <p:spPr>
          <a:xfrm>
            <a:off x="787400" y="1397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外部平台全部未真实对接</a:t>
            </a:r>
            <a:endParaRPr lang="en-US" sz="850" dirty="0"/>
          </a:p>
        </p:txBody>
      </p:sp>
      <p:sp>
        <p:nvSpPr>
          <p:cNvPr id="8" name="p08-g1-b"/>
          <p:cNvSpPr/>
          <p:nvPr/>
        </p:nvSpPr>
        <p:spPr>
          <a:xfrm>
            <a:off x="787400" y="1803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储能运营平台、充电桩平台、电力市场、天气、地图路径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—— 都只有配置位与调用封装，没有可用凭据，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未做联调。未配置时相关章节自动省略，不生成占位数字。</a:t>
            </a:r>
            <a:endParaRPr lang="en-US" sz="850" dirty="0"/>
          </a:p>
        </p:txBody>
      </p:sp>
      <p:sp>
        <p:nvSpPr>
          <p:cNvPr id="9" name="p08-g2"/>
          <p:cNvSpPr/>
          <p:nvPr/>
        </p:nvSpPr>
        <p:spPr>
          <a:xfrm>
            <a:off x="6197600" y="1346200"/>
            <a:ext cx="5384800" cy="149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5392A"/>
            </a:solidFill>
            <a:prstDash val="solid"/>
          </a:ln>
        </p:spPr>
      </p:sp>
      <p:sp>
        <p:nvSpPr>
          <p:cNvPr id="10" name="p08-g2-h"/>
          <p:cNvSpPr/>
          <p:nvPr/>
        </p:nvSpPr>
        <p:spPr>
          <a:xfrm>
            <a:off x="6197600" y="1346200"/>
            <a:ext cx="5384800" cy="3302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11" name="p08-g2-l"/>
          <p:cNvSpPr/>
          <p:nvPr/>
        </p:nvSpPr>
        <p:spPr>
          <a:xfrm>
            <a:off x="6375400" y="1397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小程序端与员工端未建工程</a:t>
            </a:r>
            <a:endParaRPr lang="en-US" sz="850" dirty="0"/>
          </a:p>
        </p:txBody>
      </p:sp>
      <p:sp>
        <p:nvSpPr>
          <p:cNvPr id="12" name="p08-g2-b"/>
          <p:cNvSpPr/>
          <p:nvPr/>
        </p:nvSpPr>
        <p:spPr>
          <a:xfrm>
            <a:off x="6375400" y="1803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后端接口已就绪（如 /work-orders/subtasks/mine 等），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但原生小程序工程没有创建。本次范围确认为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「后端 + LangGraph Agent 中心 + Vue3 管理后台」。</a:t>
            </a:r>
            <a:endParaRPr lang="en-US" sz="850" dirty="0"/>
          </a:p>
        </p:txBody>
      </p:sp>
      <p:sp>
        <p:nvSpPr>
          <p:cNvPr id="13" name="p08-g3"/>
          <p:cNvSpPr/>
          <p:nvPr/>
        </p:nvSpPr>
        <p:spPr>
          <a:xfrm>
            <a:off x="609600" y="2997200"/>
            <a:ext cx="5384800" cy="149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4" name="p08-g3-h"/>
          <p:cNvSpPr/>
          <p:nvPr/>
        </p:nvSpPr>
        <p:spPr>
          <a:xfrm>
            <a:off x="609600" y="2997200"/>
            <a:ext cx="53848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5" name="p08-g3-l"/>
          <p:cNvSpPr/>
          <p:nvPr/>
        </p:nvSpPr>
        <p:spPr>
          <a:xfrm>
            <a:off x="787400" y="3048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知识库只有 6 条演示数据</a:t>
            </a:r>
            <a:endParaRPr lang="en-US" sz="850" dirty="0"/>
          </a:p>
        </p:txBody>
      </p:sp>
      <p:sp>
        <p:nvSpPr>
          <p:cNvPr id="16" name="p08-g3-b"/>
          <p:cNvSpPr/>
          <p:nvPr/>
        </p:nvSpPr>
        <p:spPr>
          <a:xfrm>
            <a:off x="787400" y="3454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条（SOP 3 / 故障案例 2 / 设备手册 1）。检索链路是完整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可用的（TF-IDF + 余弦相似度），但语料规模不足以支撑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生产级诊断质量 —— 需要真实运维资料导入后才能评估。</a:t>
            </a:r>
            <a:endParaRPr lang="en-US" sz="850" dirty="0"/>
          </a:p>
        </p:txBody>
      </p:sp>
      <p:sp>
        <p:nvSpPr>
          <p:cNvPr id="17" name="p08-g4"/>
          <p:cNvSpPr/>
          <p:nvPr/>
        </p:nvSpPr>
        <p:spPr>
          <a:xfrm>
            <a:off x="6197600" y="2997200"/>
            <a:ext cx="5384800" cy="149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8" name="p08-g4-h"/>
          <p:cNvSpPr/>
          <p:nvPr/>
        </p:nvSpPr>
        <p:spPr>
          <a:xfrm>
            <a:off x="6197600" y="2997200"/>
            <a:ext cx="53848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9" name="p08-g4-l"/>
          <p:cNvSpPr/>
          <p:nvPr/>
        </p:nvSpPr>
        <p:spPr>
          <a:xfrm>
            <a:off x="6375400" y="3048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交付文档未全部单独成文</a:t>
            </a:r>
            <a:endParaRPr lang="en-US" sz="850" dirty="0"/>
          </a:p>
        </p:txBody>
      </p:sp>
      <p:sp>
        <p:nvSpPr>
          <p:cNvPr id="20" name="p08-g4-b"/>
          <p:cNvSpPr/>
          <p:nvPr/>
        </p:nvSpPr>
        <p:spPr>
          <a:xfrm>
            <a:off x="6375400" y="3454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架构、数据库与接口设计已写入 README；但测试报告、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用户手册、运维手册、AI 评估报告没有单独成文。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三套验证脚本本身可作为测试证据。</a:t>
            </a:r>
            <a:endParaRPr lang="en-US" sz="850" dirty="0"/>
          </a:p>
        </p:txBody>
      </p:sp>
      <p:sp>
        <p:nvSpPr>
          <p:cNvPr id="21" name="p08-g5"/>
          <p:cNvSpPr/>
          <p:nvPr/>
        </p:nvSpPr>
        <p:spPr>
          <a:xfrm>
            <a:off x="609600" y="4648200"/>
            <a:ext cx="109728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2" name="p08-g5-l"/>
          <p:cNvSpPr/>
          <p:nvPr/>
        </p:nvSpPr>
        <p:spPr>
          <a:xfrm>
            <a:off x="787400" y="4826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其他技术性简化</a:t>
            </a:r>
            <a:endParaRPr lang="en-US" sz="850" dirty="0"/>
          </a:p>
        </p:txBody>
      </p:sp>
      <p:sp>
        <p:nvSpPr>
          <p:cNvPr id="23" name="p08-g5-b"/>
          <p:cNvSpPr/>
          <p:nvPr/>
        </p:nvSpPr>
        <p:spPr>
          <a:xfrm>
            <a:off x="787400" y="5105400"/>
            <a:ext cx="1061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向量库为内置实现（非 Milvus/Infinity）；报告推送的微信 / 飞书 / 邮件通道只有代码路径，无凭据时安全跳过。</a:t>
            </a:r>
            <a:endParaRPr lang="en-US" sz="850" dirty="0"/>
          </a:p>
        </p:txBody>
      </p:sp>
      <p:sp>
        <p:nvSpPr>
          <p:cNvPr id="24" name="p08-band"/>
          <p:cNvSpPr/>
          <p:nvPr/>
        </p:nvSpPr>
        <p:spPr>
          <a:xfrm>
            <a:off x="609600" y="5613400"/>
            <a:ext cx="10972800" cy="584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5" name="p08-band-text"/>
          <p:cNvSpPr/>
          <p:nvPr/>
        </p:nvSpPr>
        <p:spPr>
          <a:xfrm>
            <a:off x="838200" y="5689600"/>
            <a:ext cx="10515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宁可少写几个功能，也不放一个看起来能跑、实际经不起查的东西上去。</a:t>
            </a:r>
            <a:endParaRPr lang="en-US" sz="1300" dirty="0"/>
          </a:p>
        </p:txBody>
      </p:sp>
      <p:sp>
        <p:nvSpPr>
          <p:cNvPr id="26" name="p08-source"/>
          <p:cNvSpPr/>
          <p:nvPr/>
        </p:nvSpPr>
        <p:spPr>
          <a:xfrm>
            <a:off x="609600" y="6324600"/>
            <a:ext cx="1041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依据：GET /api/v1/ai/knowledge/categories 实测 SOP 3 / 故障案例 2 / 设备手册 1；外部平台配置项见 backend/.env 空值项。</a:t>
            </a:r>
            <a:endParaRPr lang="en-US" sz="750" dirty="0"/>
          </a:p>
        </p:txBody>
      </p:sp>
      <p:sp>
        <p:nvSpPr>
          <p:cNvPr id="27" name="p08-page"/>
          <p:cNvSpPr/>
          <p:nvPr/>
        </p:nvSpPr>
        <p:spPr>
          <a:xfrm>
            <a:off x="11074400" y="6324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09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系统架构</a:t>
            </a:r>
            <a:endParaRPr lang="en-US" sz="900" dirty="0"/>
          </a:p>
        </p:txBody>
      </p:sp>
      <p:sp>
        <p:nvSpPr>
          <p:cNvPr id="4" name="p09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四层架构，规则可版本化、可回滚</a:t>
            </a:r>
            <a:endParaRPr lang="en-US" sz="2300" dirty="0"/>
          </a:p>
        </p:txBody>
      </p:sp>
      <p:sp>
        <p:nvSpPr>
          <p:cNvPr id="5" name="p09-t1"/>
          <p:cNvSpPr/>
          <p:nvPr/>
        </p:nvSpPr>
        <p:spPr>
          <a:xfrm>
            <a:off x="609600" y="1320800"/>
            <a:ext cx="8890000" cy="838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6" name="p09-t1-tag"/>
          <p:cNvSpPr/>
          <p:nvPr/>
        </p:nvSpPr>
        <p:spPr>
          <a:xfrm>
            <a:off x="609600" y="1320800"/>
            <a:ext cx="1625600" cy="838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7" name="p09-t1-tag-t"/>
          <p:cNvSpPr/>
          <p:nvPr/>
        </p:nvSpPr>
        <p:spPr>
          <a:xfrm>
            <a:off x="736600" y="1320800"/>
            <a:ext cx="1371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950" dirty="0"/>
          </a:p>
        </p:txBody>
      </p:sp>
      <p:sp>
        <p:nvSpPr>
          <p:cNvPr id="8" name="p09-t1-b"/>
          <p:cNvSpPr/>
          <p:nvPr/>
        </p:nvSpPr>
        <p:spPr>
          <a:xfrm>
            <a:off x="2413000" y="14732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 · Vite 6 · Pinia · Ant Design Vue · ECharts  ·  28 个 .vue 页面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个页面路由；菜单与按钮按服务端权限动态裁剪</a:t>
            </a:r>
            <a:endParaRPr lang="en-US" sz="850" dirty="0"/>
          </a:p>
        </p:txBody>
      </p:sp>
      <p:sp>
        <p:nvSpPr>
          <p:cNvPr id="9" name="p09-t2"/>
          <p:cNvSpPr/>
          <p:nvPr/>
        </p:nvSpPr>
        <p:spPr>
          <a:xfrm>
            <a:off x="609600" y="2286000"/>
            <a:ext cx="8890000" cy="838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0" name="p09-t2-tag"/>
          <p:cNvSpPr/>
          <p:nvPr/>
        </p:nvSpPr>
        <p:spPr>
          <a:xfrm>
            <a:off x="609600" y="2286000"/>
            <a:ext cx="1625600" cy="838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1" name="p09-t2-tag-t"/>
          <p:cNvSpPr/>
          <p:nvPr/>
        </p:nvSpPr>
        <p:spPr>
          <a:xfrm>
            <a:off x="736600" y="2286000"/>
            <a:ext cx="1371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950" dirty="0"/>
          </a:p>
        </p:txBody>
      </p:sp>
      <p:sp>
        <p:nvSpPr>
          <p:cNvPr id="12" name="p09-t2-b"/>
          <p:cNvSpPr/>
          <p:nvPr/>
        </p:nvSpPr>
        <p:spPr>
          <a:xfrm>
            <a:off x="2413000" y="24384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Pydantic v2 · python-jose JWT · bcrypt  ·  103 个接口路径 / 114 个操作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require_permission() 鉴权；apply_data_scope() 做四范围过滤</a:t>
            </a:r>
            <a:endParaRPr lang="en-US" sz="850" dirty="0"/>
          </a:p>
        </p:txBody>
      </p:sp>
      <p:sp>
        <p:nvSpPr>
          <p:cNvPr id="13" name="p09-t3"/>
          <p:cNvSpPr/>
          <p:nvPr/>
        </p:nvSpPr>
        <p:spPr>
          <a:xfrm>
            <a:off x="609600" y="3251200"/>
            <a:ext cx="8890000" cy="838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4" name="p09-t3-tag"/>
          <p:cNvSpPr/>
          <p:nvPr/>
        </p:nvSpPr>
        <p:spPr>
          <a:xfrm>
            <a:off x="609600" y="3251200"/>
            <a:ext cx="1625600" cy="838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5" name="p09-t3-tag-t"/>
          <p:cNvSpPr/>
          <p:nvPr/>
        </p:nvSpPr>
        <p:spPr>
          <a:xfrm>
            <a:off x="736600" y="3251200"/>
            <a:ext cx="1371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950" dirty="0"/>
          </a:p>
        </p:txBody>
      </p:sp>
      <p:sp>
        <p:nvSpPr>
          <p:cNvPr id="16" name="p09-t3-b"/>
          <p:cNvSpPr/>
          <p:nvPr/>
        </p:nvSpPr>
        <p:spPr>
          <a:xfrm>
            <a:off x="2413000" y="3403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solver 硬约束与 CP-SAT  ·  work_order 子任务公式  ·  rbac 权限并集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规则版本与审计  ·  report_service 报告生成  ·  LangGraph 编排</a:t>
            </a:r>
            <a:endParaRPr lang="en-US" sz="850" dirty="0"/>
          </a:p>
        </p:txBody>
      </p:sp>
      <p:sp>
        <p:nvSpPr>
          <p:cNvPr id="17" name="p09-t4"/>
          <p:cNvSpPr/>
          <p:nvPr/>
        </p:nvSpPr>
        <p:spPr>
          <a:xfrm>
            <a:off x="609600" y="4216400"/>
            <a:ext cx="8890000" cy="838200"/>
          </a:xfrm>
          <a:prstGeom prst="rect">
            <a:avLst/>
          </a:prstGeom>
          <a:solidFill>
            <a:srgbClr val="B5392A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18" name="p09-t4-tag"/>
          <p:cNvSpPr/>
          <p:nvPr/>
        </p:nvSpPr>
        <p:spPr>
          <a:xfrm>
            <a:off x="609600" y="4216400"/>
            <a:ext cx="1625600" cy="838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9" name="p09-t4-tag-t"/>
          <p:cNvSpPr/>
          <p:nvPr/>
        </p:nvSpPr>
        <p:spPr>
          <a:xfrm>
            <a:off x="736600" y="4216400"/>
            <a:ext cx="1371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950" dirty="0"/>
          </a:p>
        </p:txBody>
      </p:sp>
      <p:sp>
        <p:nvSpPr>
          <p:cNvPr id="20" name="p09-t4-b"/>
          <p:cNvSpPr/>
          <p:nvPr/>
        </p:nvSpPr>
        <p:spPr>
          <a:xfrm>
            <a:off x="2413000" y="43688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2.0 异步  ·  SQLite 默认（aiosqlite，NullPool + WAL）  ·  PostgreSQL 可切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张表 / 117 个索引；psycopg 驱动已装，改 DATABASE_URL 即切换</a:t>
            </a:r>
            <a:endParaRPr lang="en-US" sz="850" dirty="0"/>
          </a:p>
        </p:txBody>
      </p:sp>
      <p:sp>
        <p:nvSpPr>
          <p:cNvPr id="21" name="p09-right"/>
          <p:cNvSpPr/>
          <p:nvPr/>
        </p:nvSpPr>
        <p:spPr>
          <a:xfrm>
            <a:off x="9753600" y="1320800"/>
            <a:ext cx="1828800" cy="373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824"/>
            </a:solidFill>
            <a:prstDash val="solid"/>
          </a:ln>
        </p:spPr>
      </p:sp>
      <p:sp>
        <p:nvSpPr>
          <p:cNvPr id="22" name="p09-right-h"/>
          <p:cNvSpPr/>
          <p:nvPr/>
        </p:nvSpPr>
        <p:spPr>
          <a:xfrm>
            <a:off x="9753600" y="1320800"/>
            <a:ext cx="1828800" cy="330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3" name="p09-right-l"/>
          <p:cNvSpPr/>
          <p:nvPr/>
        </p:nvSpPr>
        <p:spPr>
          <a:xfrm>
            <a:off x="9880600" y="1371600"/>
            <a:ext cx="157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规则版本化</a:t>
            </a:r>
            <a:endParaRPr lang="en-US" sz="850" dirty="0"/>
          </a:p>
        </p:txBody>
      </p:sp>
      <p:sp>
        <p:nvSpPr>
          <p:cNvPr id="24" name="p09-right-b"/>
          <p:cNvSpPr/>
          <p:nvPr/>
        </p:nvSpPr>
        <p:spPr>
          <a:xfrm>
            <a:off x="9906000" y="1803400"/>
            <a:ext cx="1549400" cy="309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rule_version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个自有字段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rule_snapshot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hard_constraints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soft_constraints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is_active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change_log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created_by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effective_at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初始版本 v1.0.0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active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激活新版本时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先把其它行置为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非激活，保证同一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时刻只有一个生效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版本，可回滚。</a:t>
            </a:r>
            <a:endParaRPr lang="en-US" sz="800" dirty="0"/>
          </a:p>
        </p:txBody>
      </p:sp>
      <p:sp>
        <p:nvSpPr>
          <p:cNvPr id="25" name="p09-band"/>
          <p:cNvSpPr/>
          <p:nvPr/>
        </p:nvSpPr>
        <p:spPr>
          <a:xfrm>
            <a:off x="609600" y="5207000"/>
            <a:ext cx="10972800" cy="5842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6" name="p09-band-text"/>
          <p:cNvSpPr/>
          <p:nvPr/>
        </p:nvSpPr>
        <p:spPr>
          <a:xfrm>
            <a:off x="838200" y="5283200"/>
            <a:ext cx="10515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规则不是写死在代码里的常量 —— 调整频率、SLA、权重都可以发新版本，并在出问题时回滚。</a:t>
            </a:r>
            <a:endParaRPr lang="en-US" sz="1250" dirty="0"/>
          </a:p>
        </p:txBody>
      </p:sp>
      <p:sp>
        <p:nvSpPr>
          <p:cNvPr id="27" name="p09-source"/>
          <p:cNvSpPr/>
          <p:nvPr/>
        </p:nvSpPr>
        <p:spPr>
          <a:xfrm>
            <a:off x="609600" y="5918200"/>
            <a:ext cx="1041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依据：models/system.py:154-166（RuleVersion 字段）；services/audit.py:125-164（激活与读取）；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bootstrap.py:249-266（初始 v1.0.0）；GET /api/v1/admin/rules/active 实测。表数与索引数取自 sqlite_master 查询。</a:t>
            </a:r>
            <a:endParaRPr lang="en-US" sz="750" dirty="0"/>
          </a:p>
        </p:txBody>
      </p:sp>
      <p:sp>
        <p:nvSpPr>
          <p:cNvPr id="28" name="p09-page"/>
          <p:cNvSpPr/>
          <p:nvPr/>
        </p:nvSpPr>
        <p:spPr>
          <a:xfrm>
            <a:off x="11074400" y="6451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10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三个真正卡住我的问题</a:t>
            </a:r>
            <a:endParaRPr lang="en-US" sz="900" dirty="0"/>
          </a:p>
        </p:txBody>
      </p:sp>
      <p:sp>
        <p:nvSpPr>
          <p:cNvPr id="4" name="p10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方案文档给的是起点，不是终点</a:t>
            </a:r>
            <a:endParaRPr lang="en-US" sz="2300" dirty="0"/>
          </a:p>
        </p:txBody>
      </p:sp>
      <p:sp>
        <p:nvSpPr>
          <p:cNvPr id="5" name="p10-c1"/>
          <p:cNvSpPr/>
          <p:nvPr/>
        </p:nvSpPr>
        <p:spPr>
          <a:xfrm>
            <a:off x="609600" y="1346200"/>
            <a:ext cx="3657600" cy="363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5392A"/>
            </a:solidFill>
            <a:prstDash val="solid"/>
          </a:ln>
        </p:spPr>
      </p:sp>
      <p:sp>
        <p:nvSpPr>
          <p:cNvPr id="6" name="p10-c1-no"/>
          <p:cNvSpPr/>
          <p:nvPr/>
        </p:nvSpPr>
        <p:spPr>
          <a:xfrm>
            <a:off x="609600" y="1346200"/>
            <a:ext cx="558800" cy="5588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7" name="p10-c1-no-t"/>
          <p:cNvSpPr/>
          <p:nvPr/>
        </p:nvSpPr>
        <p:spPr>
          <a:xfrm>
            <a:off x="609600" y="13462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p10-c1-t"/>
          <p:cNvSpPr/>
          <p:nvPr/>
        </p:nvSpPr>
        <p:spPr>
          <a:xfrm>
            <a:off x="1295400" y="1422400"/>
            <a:ext cx="28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一个无限循环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把内存吃爆了</a:t>
            </a:r>
            <a:endParaRPr lang="en-US" sz="1150" dirty="0"/>
          </a:p>
        </p:txBody>
      </p:sp>
      <p:sp>
        <p:nvSpPr>
          <p:cNvPr id="9" name="p10-c1-p"/>
          <p:cNvSpPr/>
          <p:nvPr/>
        </p:nvSpPr>
        <p:spPr>
          <a:xfrm>
            <a:off x="609600" y="2032000"/>
            <a:ext cx="3657600" cy="7874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0" name="p10-c1-p-t"/>
          <p:cNvSpPr/>
          <p:nvPr/>
        </p:nvSpPr>
        <p:spPr>
          <a:xfrm>
            <a:off x="762000" y="2133600"/>
            <a:ext cx="335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没有候选方案时，两个节点互相触发，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validation_warnings 每轮翻倍：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→ 2 → 4 → … → 131072</a:t>
            </a:r>
            <a:endParaRPr lang="en-US" sz="800" dirty="0"/>
          </a:p>
        </p:txBody>
      </p:sp>
      <p:sp>
        <p:nvSpPr>
          <p:cNvPr id="11" name="p10-c1-b"/>
          <p:cNvSpPr/>
          <p:nvPr/>
        </p:nvSpPr>
        <p:spPr>
          <a:xfrm>
            <a:off x="762000" y="2971800"/>
            <a:ext cx="3352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排查过程中我一度怀疑是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OR-Tools、langgraph 版本、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锁或并发问题 ——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单独跑 CP-SAT 求解只要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0.018 秒，都不是原因。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真正的根因是缺一个重试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计数器。加上 relax_count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并设上限 2 之后，整图固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定在 10 步内收敛，不再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 MemoryError。</a:t>
            </a:r>
            <a:endParaRPr lang="en-US" sz="800" dirty="0"/>
          </a:p>
        </p:txBody>
      </p:sp>
      <p:sp>
        <p:nvSpPr>
          <p:cNvPr id="12" name="p10-c2"/>
          <p:cNvSpPr/>
          <p:nvPr/>
        </p:nvSpPr>
        <p:spPr>
          <a:xfrm>
            <a:off x="4521200" y="1346200"/>
            <a:ext cx="3657600" cy="363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5392A"/>
            </a:solidFill>
            <a:prstDash val="solid"/>
          </a:ln>
        </p:spPr>
      </p:sp>
      <p:sp>
        <p:nvSpPr>
          <p:cNvPr id="13" name="p10-c2-no"/>
          <p:cNvSpPr/>
          <p:nvPr/>
        </p:nvSpPr>
        <p:spPr>
          <a:xfrm>
            <a:off x="4521200" y="1346200"/>
            <a:ext cx="558800" cy="5588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14" name="p10-c2-no-t"/>
          <p:cNvSpPr/>
          <p:nvPr/>
        </p:nvSpPr>
        <p:spPr>
          <a:xfrm>
            <a:off x="4521200" y="13462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p10-c2-t"/>
          <p:cNvSpPr/>
          <p:nvPr/>
        </p:nvSpPr>
        <p:spPr>
          <a:xfrm>
            <a:off x="5207000" y="1422400"/>
            <a:ext cx="28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文档建议的 interrupt()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在本机跑不通</a:t>
            </a:r>
            <a:endParaRPr lang="en-US" sz="1150" dirty="0"/>
          </a:p>
        </p:txBody>
      </p:sp>
      <p:sp>
        <p:nvSpPr>
          <p:cNvPr id="16" name="p10-c2-p"/>
          <p:cNvSpPr/>
          <p:nvPr/>
        </p:nvSpPr>
        <p:spPr>
          <a:xfrm>
            <a:off x="4521200" y="2032000"/>
            <a:ext cx="3657600" cy="7874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17" name="p10-c2-p-t"/>
          <p:cNvSpPr/>
          <p:nvPr/>
        </p:nvSpPr>
        <p:spPr>
          <a:xfrm>
            <a:off x="4673600" y="2133600"/>
            <a:ext cx="335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它依赖检查点与正在执行的图并发交互，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在本机环境下会触发原生崩溃；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进程内状态也无法在多 worker 间共享。</a:t>
            </a:r>
            <a:endParaRPr lang="en-US" sz="800" dirty="0"/>
          </a:p>
        </p:txBody>
      </p:sp>
      <p:sp>
        <p:nvSpPr>
          <p:cNvPr id="18" name="p10-c2-b"/>
          <p:cNvSpPr/>
          <p:nvPr/>
        </p:nvSpPr>
        <p:spPr>
          <a:xfrm>
            <a:off x="4673600" y="2971800"/>
            <a:ext cx="3352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改成「两阶段 + 数据库持久化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状态」：阶段一跑到人工确认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节点即停，状态写进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ai_agent_task；调用 /confirm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时把确认结果注入初始状态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重跑整图。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业务硬约束没变（必须人工确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认才下发），换来的是可水平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扩展、可审计。</a:t>
            </a:r>
            <a:endParaRPr lang="en-US" sz="800" dirty="0"/>
          </a:p>
        </p:txBody>
      </p:sp>
      <p:sp>
        <p:nvSpPr>
          <p:cNvPr id="19" name="p10-c3"/>
          <p:cNvSpPr/>
          <p:nvPr/>
        </p:nvSpPr>
        <p:spPr>
          <a:xfrm>
            <a:off x="8432800" y="1346200"/>
            <a:ext cx="3149600" cy="3632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2824"/>
            </a:solidFill>
            <a:prstDash val="solid"/>
          </a:ln>
        </p:spPr>
      </p:sp>
      <p:sp>
        <p:nvSpPr>
          <p:cNvPr id="20" name="p10-c3-no"/>
          <p:cNvSpPr/>
          <p:nvPr/>
        </p:nvSpPr>
        <p:spPr>
          <a:xfrm>
            <a:off x="8432800" y="1346200"/>
            <a:ext cx="558800" cy="558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21" name="p10-c3-no-t"/>
          <p:cNvSpPr/>
          <p:nvPr/>
        </p:nvSpPr>
        <p:spPr>
          <a:xfrm>
            <a:off x="8432800" y="13462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p10-c3-t"/>
          <p:cNvSpPr/>
          <p:nvPr/>
        </p:nvSpPr>
        <p:spPr>
          <a:xfrm>
            <a:off x="9118600" y="1422400"/>
            <a:ext cx="233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自己发现的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变 500</a:t>
            </a:r>
            <a:endParaRPr lang="en-US" sz="1150" dirty="0"/>
          </a:p>
        </p:txBody>
      </p:sp>
      <p:sp>
        <p:nvSpPr>
          <p:cNvPr id="23" name="p10-c3-p"/>
          <p:cNvSpPr/>
          <p:nvPr/>
        </p:nvSpPr>
        <p:spPr>
          <a:xfrm>
            <a:off x="8432800" y="2032000"/>
            <a:ext cx="3149600" cy="787400"/>
          </a:xfrm>
          <a:prstGeom prst="rect">
            <a:avLst/>
          </a:prstGeom>
          <a:solidFill>
            <a:srgbClr val="F2DED8"/>
          </a:solidFill>
          <a:ln w="12700">
            <a:solidFill>
              <a:srgbClr val="F2DED8"/>
            </a:solidFill>
            <a:prstDash val="solid"/>
          </a:ln>
        </p:spPr>
      </p:sp>
      <p:sp>
        <p:nvSpPr>
          <p:cNvPr id="24" name="p10-c3-p-t"/>
          <p:cNvSpPr/>
          <p:nvPr/>
        </p:nvSpPr>
        <p:spPr>
          <a:xfrm>
            <a:off x="8585200" y="2108200"/>
            <a:ext cx="2844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兜底的 404 处理器无差别返回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JSONResponse，把 StaticFiles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抛出的异常当成了内部错误。</a:t>
            </a:r>
            <a:endParaRPr lang="en-US" sz="800" dirty="0"/>
          </a:p>
        </p:txBody>
      </p:sp>
      <p:sp>
        <p:nvSpPr>
          <p:cNvPr id="25" name="p10-c3-b"/>
          <p:cNvSpPr/>
          <p:nvPr/>
        </p:nvSpPr>
        <p:spPr>
          <a:xfrm>
            <a:off x="8585200" y="2971800"/>
            <a:ext cx="284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在处理器里再次 raise 会逃逸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到兜底的 500 处理器 —— 这是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关键点。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正确做法是按 status_code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原样返回响应：API 路径给统一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结构，静态资源给纯文本。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修完补了 2 条回归断言：不存在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的静态文件必须返回 404，不存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在的 API 返回统一 JSON。</a:t>
            </a:r>
            <a:endParaRPr lang="en-US" sz="800" dirty="0"/>
          </a:p>
        </p:txBody>
      </p:sp>
      <p:sp>
        <p:nvSpPr>
          <p:cNvPr id="26" name="p10-band"/>
          <p:cNvSpPr/>
          <p:nvPr/>
        </p:nvSpPr>
        <p:spPr>
          <a:xfrm>
            <a:off x="609600" y="5130800"/>
            <a:ext cx="10972800" cy="6096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27" name="p10-band-l"/>
          <p:cNvSpPr/>
          <p:nvPr/>
        </p:nvSpPr>
        <p:spPr>
          <a:xfrm>
            <a:off x="838200" y="5308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这三件事说明</a:t>
            </a:r>
            <a:endParaRPr lang="en-US" sz="850" dirty="0"/>
          </a:p>
        </p:txBody>
      </p:sp>
      <p:sp>
        <p:nvSpPr>
          <p:cNvPr id="28" name="p10-band-t"/>
          <p:cNvSpPr/>
          <p:nvPr/>
        </p:nvSpPr>
        <p:spPr>
          <a:xfrm>
            <a:off x="2743200" y="5207000"/>
            <a:ext cx="863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方案文档给的是方向；真正跑起来才会暴露边界。文档建议的做法也不一定可用，要能说清为什么换。</a:t>
            </a:r>
            <a:endParaRPr lang="en-US" sz="1200" dirty="0"/>
          </a:p>
        </p:txBody>
      </p:sp>
      <p:sp>
        <p:nvSpPr>
          <p:cNvPr id="29" name="p10-source"/>
          <p:cNvSpPr/>
          <p:nvPr/>
        </p:nvSpPr>
        <p:spPr>
          <a:xfrm>
            <a:off x="609600" y="58674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依据：graph.py:43 MAX_RELAX_RETRY = 2 及第 46-52 行 after_generation 判断；nodes.py:1964-1994 relax_constraints 的 docstring；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nodes.py:1442-1455 human_confirmation 的工程取舍说明；main.py 的 StarletteHTTPException 处理器；smoke_test.py 中的 2 条 404 回归断言。</a:t>
            </a:r>
            <a:endParaRPr lang="en-US" sz="750" dirty="0"/>
          </a:p>
        </p:txBody>
      </p:sp>
      <p:sp>
        <p:nvSpPr>
          <p:cNvPr id="30" name="p10-page"/>
          <p:cNvSpPr/>
          <p:nvPr/>
        </p:nvSpPr>
        <p:spPr>
          <a:xfrm>
            <a:off x="11074400" y="6451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11-code"/>
          <p:cNvSpPr/>
          <p:nvPr/>
        </p:nvSpPr>
        <p:spPr>
          <a:xfrm>
            <a:off x="609600" y="4064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关键取舍与预设问答</a:t>
            </a:r>
            <a:endParaRPr lang="en-US" sz="900" dirty="0"/>
          </a:p>
        </p:txBody>
      </p:sp>
      <p:sp>
        <p:nvSpPr>
          <p:cNvPr id="4" name="p11-title"/>
          <p:cNvSpPr/>
          <p:nvPr/>
        </p:nvSpPr>
        <p:spPr>
          <a:xfrm>
            <a:off x="609600" y="685800"/>
            <a:ext cx="1097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28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每个偏离方案的决定，都有可核对的理由</a:t>
            </a:r>
            <a:endParaRPr lang="en-US" sz="2300" dirty="0"/>
          </a:p>
        </p:txBody>
      </p:sp>
      <p:graphicFrame>
        <p:nvGraphicFramePr>
          <p:cNvPr id="12" name="p11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46200"/>
          <a:ext cx="10972800" cy="4089400"/>
        </p:xfrm>
        <a:graphic>
          <a:graphicData uri="http://schemas.openxmlformats.org/drawingml/2006/table">
            <a:tbl>
              <a:tblPr/>
              <a:tblGrid>
                <a:gridCol w="2852928"/>
                <a:gridCol w="4059936"/>
                <a:gridCol w="4059936"/>
              </a:tblGrid>
              <a:tr h="678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可能的提问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我们的回答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可核对的依据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24"/>
                    </a:solidFill>
                  </a:tcPr>
                </a:tc>
              </a:tr>
              <a:tr h="678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为什么没用 LangGraph 的 interrupt()？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它依赖检查点与执行中的图并发交互，在本机会触发原生崩溃，且进程内状态多 worker 无法共享。改用两阶段 + 数据库持久化状态。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nodes.py:1442-1455 的工程取舍说明；确认记录落 ai_agent_task.confirmation。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到底用在哪？会不会算错？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只做方案解释、报告生成与语言表达。硬约束、子任务公式、可行性判定全部在代码里，模型算错也不影响方案。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solver.py 的 validate_hard_constraints；work_order.py 的 calc_subtask_count。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0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知识库只有 6 条，RAG 有意义吗？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检索链路是完整可用的（含中文 bigram 提升召回），但语料规模确实不足以支撑生产级诊断质量，需要导入真实资料后再评估。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/api/v1/ai/knowledge/categories 实测 SOP 3 / 故障案例 2 / 设备手册 1。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为什么默认 SQLite，方案写的是 PostgreSQL？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SQLite 是为了开箱即跑、降低演示门槛。psycopg 驱动已安装，切换只需改 DATABASE_URL，模型层未使用任何方言。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config.py 的 DATABASE_URL；.env 中保留 PostgreSQL 示例串。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0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重排会不会死循环？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不会。重排有次数上限，达到上限转异常处理终止，整图固定 10 步内收敛；已完成子任务锁定不参与重排。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28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graph.py:43 MAX_RELAX_RETRY = 2；nodes.py:1832-1851 的 locked_subtasks。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C2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11-band"/>
          <p:cNvSpPr/>
          <p:nvPr/>
        </p:nvSpPr>
        <p:spPr>
          <a:xfrm>
            <a:off x="609600" y="5638800"/>
            <a:ext cx="10972800" cy="558800"/>
          </a:xfrm>
          <a:prstGeom prst="rect">
            <a:avLst/>
          </a:prstGeom>
          <a:solidFill>
            <a:srgbClr val="252824"/>
          </a:solidFill>
          <a:ln w="12700">
            <a:solidFill>
              <a:srgbClr val="252824"/>
            </a:solidFill>
            <a:prstDash val="solid"/>
          </a:ln>
        </p:spPr>
      </p:sp>
      <p:sp>
        <p:nvSpPr>
          <p:cNvPr id="7" name="p11-band-t"/>
          <p:cNvSpPr/>
          <p:nvPr/>
        </p:nvSpPr>
        <p:spPr>
          <a:xfrm>
            <a:off x="838200" y="5715000"/>
            <a:ext cx="1051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原则：偏离方案可以，但每一个偏离都要能说清原因，并且能当场核对。</a:t>
            </a:r>
            <a:endParaRPr lang="en-US" sz="1250" dirty="0"/>
          </a:p>
        </p:txBody>
      </p:sp>
      <p:sp>
        <p:nvSpPr>
          <p:cNvPr id="8" name="p11-source"/>
          <p:cNvSpPr/>
          <p:nvPr/>
        </p:nvSpPr>
        <p:spPr>
          <a:xfrm>
            <a:off x="609600" y="6324600"/>
            <a:ext cx="1097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其余预备问题（CPSAT 关闭后怎么办、权限并集口径、审计可否篡改、验证怎么重复跑）见答辩稿附录。</a:t>
            </a:r>
            <a:endParaRPr lang="en-US" sz="750" dirty="0"/>
          </a:p>
        </p:txBody>
      </p:sp>
      <p:sp>
        <p:nvSpPr>
          <p:cNvPr id="9" name="p11-page"/>
          <p:cNvSpPr/>
          <p:nvPr/>
        </p:nvSpPr>
        <p:spPr>
          <a:xfrm>
            <a:off x="11074400" y="6324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2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-top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3" name="p12-code"/>
          <p:cNvSpPr/>
          <p:nvPr/>
        </p:nvSpPr>
        <p:spPr>
          <a:xfrm>
            <a:off x="609600" y="508000"/>
            <a:ext cx="711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总结</a:t>
            </a:r>
            <a:endParaRPr lang="en-US" sz="900" dirty="0"/>
          </a:p>
        </p:txBody>
      </p:sp>
      <p:sp>
        <p:nvSpPr>
          <p:cNvPr id="4" name="p12-title"/>
          <p:cNvSpPr/>
          <p:nvPr/>
        </p:nvSpPr>
        <p:spPr>
          <a:xfrm>
            <a:off x="609600" y="812800"/>
            <a:ext cx="660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把运维规则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搬进代码</a:t>
            </a:r>
            <a:endParaRPr lang="en-US" sz="3200" dirty="0"/>
          </a:p>
        </p:txBody>
      </p:sp>
      <p:sp>
        <p:nvSpPr>
          <p:cNvPr id="5" name="p12-sub"/>
          <p:cNvSpPr/>
          <p:nvPr/>
        </p:nvSpPr>
        <p:spPr>
          <a:xfrm>
            <a:off x="609600" y="2184400"/>
            <a:ext cx="6350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 —— 频率、SLA、权重都在规则中心，可发版可回滚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A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—— 每套方案带评分与推荐理由，LLM 只做表达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AA0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—— 确认记录、节点追踪、审计日志全部落库</a:t>
            </a:r>
            <a:endParaRPr lang="en-US" sz="1150" dirty="0"/>
          </a:p>
        </p:txBody>
      </p:sp>
      <p:sp>
        <p:nvSpPr>
          <p:cNvPr id="6" name="p12-k1"/>
          <p:cNvSpPr/>
          <p:nvPr/>
        </p:nvSpPr>
        <p:spPr>
          <a:xfrm>
            <a:off x="7569200" y="812800"/>
            <a:ext cx="1879600" cy="1168400"/>
          </a:xfrm>
          <a:prstGeom prst="rect">
            <a:avLst/>
          </a:prstGeom>
          <a:solidFill>
            <a:srgbClr val="B5392A"/>
          </a:solidFill>
          <a:ln w="12700">
            <a:solidFill>
              <a:srgbClr val="B5392A"/>
            </a:solidFill>
            <a:prstDash val="solid"/>
          </a:ln>
        </p:spPr>
      </p:sp>
      <p:sp>
        <p:nvSpPr>
          <p:cNvPr id="7" name="p12-k1-n"/>
          <p:cNvSpPr/>
          <p:nvPr/>
        </p:nvSpPr>
        <p:spPr>
          <a:xfrm>
            <a:off x="7747000" y="965200"/>
            <a:ext cx="1549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2400" dirty="0"/>
          </a:p>
        </p:txBody>
      </p:sp>
      <p:sp>
        <p:nvSpPr>
          <p:cNvPr id="8" name="p12-k1-l"/>
          <p:cNvSpPr/>
          <p:nvPr/>
        </p:nvSpPr>
        <p:spPr>
          <a:xfrm>
            <a:off x="7747000" y="15494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项验证通过</a:t>
            </a:r>
            <a:endParaRPr lang="en-US" sz="850" dirty="0"/>
          </a:p>
        </p:txBody>
      </p:sp>
      <p:sp>
        <p:nvSpPr>
          <p:cNvPr id="9" name="p12-k2"/>
          <p:cNvSpPr/>
          <p:nvPr/>
        </p:nvSpPr>
        <p:spPr>
          <a:xfrm>
            <a:off x="9626600" y="8128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p12-k2-n"/>
          <p:cNvSpPr/>
          <p:nvPr/>
        </p:nvSpPr>
        <p:spPr>
          <a:xfrm>
            <a:off x="9804400" y="965200"/>
            <a:ext cx="1549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28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2400" dirty="0"/>
          </a:p>
        </p:txBody>
      </p:sp>
      <p:sp>
        <p:nvSpPr>
          <p:cNvPr id="11" name="p12-k2-l"/>
          <p:cNvSpPr/>
          <p:nvPr/>
        </p:nvSpPr>
        <p:spPr>
          <a:xfrm>
            <a:off x="9804400" y="15494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个接口</a:t>
            </a:r>
            <a:endParaRPr lang="en-US" sz="850" dirty="0"/>
          </a:p>
        </p:txBody>
      </p:sp>
      <p:sp>
        <p:nvSpPr>
          <p:cNvPr id="12" name="p12-div"/>
          <p:cNvSpPr/>
          <p:nvPr/>
        </p:nvSpPr>
        <p:spPr>
          <a:xfrm>
            <a:off x="609600" y="3200400"/>
            <a:ext cx="10972800" cy="0"/>
          </a:xfrm>
          <a:prstGeom prst="line">
            <a:avLst/>
          </a:prstGeom>
          <a:noFill/>
          <a:ln w="10160">
            <a:solidFill>
              <a:srgbClr val="9AA09B"/>
            </a:solidFill>
            <a:prstDash val="solid"/>
          </a:ln>
        </p:spPr>
      </p:sp>
      <p:sp>
        <p:nvSpPr>
          <p:cNvPr id="13" name="p12-next-head"/>
          <p:cNvSpPr/>
          <p:nvPr/>
        </p:nvSpPr>
        <p:spPr>
          <a:xfrm>
            <a:off x="609600" y="3403600"/>
            <a:ext cx="1097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如果继续做，下一步是这三件事</a:t>
            </a:r>
            <a:endParaRPr lang="en-US" sz="850" dirty="0"/>
          </a:p>
        </p:txBody>
      </p:sp>
      <p:sp>
        <p:nvSpPr>
          <p:cNvPr id="14" name="p12-n1"/>
          <p:cNvSpPr/>
          <p:nvPr/>
        </p:nvSpPr>
        <p:spPr>
          <a:xfrm>
            <a:off x="609600" y="3708400"/>
            <a:ext cx="34544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p12-n1-t"/>
          <p:cNvSpPr/>
          <p:nvPr/>
        </p:nvSpPr>
        <p:spPr>
          <a:xfrm>
            <a:off x="787400" y="38608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导入真实运维知识</a:t>
            </a:r>
            <a:endParaRPr lang="en-US" sz="950" dirty="0"/>
          </a:p>
        </p:txBody>
      </p:sp>
      <p:sp>
        <p:nvSpPr>
          <p:cNvPr id="16" name="p12-n1-b"/>
          <p:cNvSpPr/>
          <p:nvPr/>
        </p:nvSpPr>
        <p:spPr>
          <a:xfrm>
            <a:off x="787400" y="4165600"/>
            <a:ext cx="309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现在只有 6 条演示数据。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有了真实 SOP 与故障案例，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才能评估诊断质量。</a:t>
            </a:r>
            <a:endParaRPr lang="en-US" sz="850" dirty="0"/>
          </a:p>
        </p:txBody>
      </p:sp>
      <p:sp>
        <p:nvSpPr>
          <p:cNvPr id="17" name="p12-n2"/>
          <p:cNvSpPr/>
          <p:nvPr/>
        </p:nvSpPr>
        <p:spPr>
          <a:xfrm>
            <a:off x="4368800" y="3708400"/>
            <a:ext cx="34544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p12-n2-t"/>
          <p:cNvSpPr/>
          <p:nvPr/>
        </p:nvSpPr>
        <p:spPr>
          <a:xfrm>
            <a:off x="4546600" y="38608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接通一个外部平台</a:t>
            </a:r>
            <a:endParaRPr lang="en-US" sz="950" dirty="0"/>
          </a:p>
        </p:txBody>
      </p:sp>
      <p:sp>
        <p:nvSpPr>
          <p:cNvPr id="19" name="p12-n2-b"/>
          <p:cNvSpPr/>
          <p:nvPr/>
        </p:nvSpPr>
        <p:spPr>
          <a:xfrm>
            <a:off x="4546600" y="4165600"/>
            <a:ext cx="309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优先接充电桩平台或储能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平台，验证集成层设计是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否站得住。</a:t>
            </a:r>
            <a:endParaRPr lang="en-US" sz="850" dirty="0"/>
          </a:p>
        </p:txBody>
      </p:sp>
      <p:sp>
        <p:nvSpPr>
          <p:cNvPr id="20" name="p12-n3"/>
          <p:cNvSpPr/>
          <p:nvPr/>
        </p:nvSpPr>
        <p:spPr>
          <a:xfrm>
            <a:off x="8128000" y="3708400"/>
            <a:ext cx="34544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12-n3-t"/>
          <p:cNvSpPr/>
          <p:nvPr/>
        </p:nvSpPr>
        <p:spPr>
          <a:xfrm>
            <a:off x="8305800" y="3860800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清理过期表述并补文档</a:t>
            </a:r>
            <a:endParaRPr lang="en-US" sz="950" dirty="0"/>
          </a:p>
        </p:txBody>
      </p:sp>
      <p:sp>
        <p:nvSpPr>
          <p:cNvPr id="22" name="p12-n3-b"/>
          <p:cNvSpPr/>
          <p:nvPr/>
        </p:nvSpPr>
        <p:spPr>
          <a:xfrm>
            <a:off x="8305800" y="4165600"/>
            <a:ext cx="309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代码里还留有几处「interrupt」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旧注释；测试报告、用户手册、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运维手册需要单独成文。</a:t>
            </a:r>
            <a:endParaRPr lang="en-US" sz="850" dirty="0"/>
          </a:p>
        </p:txBody>
      </p:sp>
      <p:sp>
        <p:nvSpPr>
          <p:cNvPr id="23" name="p12-thanks"/>
          <p:cNvSpPr/>
          <p:nvPr/>
        </p:nvSpPr>
        <p:spPr>
          <a:xfrm>
            <a:off x="609600" y="5232400"/>
            <a:ext cx="10972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2D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请提问。</a:t>
            </a:r>
            <a:endParaRPr lang="en-US" sz="2400" dirty="0"/>
          </a:p>
        </p:txBody>
      </p:sp>
      <p:sp>
        <p:nvSpPr>
          <p:cNvPr id="24" name="p12-page"/>
          <p:cNvSpPr/>
          <p:nvPr/>
        </p:nvSpPr>
        <p:spPr>
          <a:xfrm>
            <a:off x="11074400" y="355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充电桩运维管理 AI Agent 平台 项目答辩</dc:title>
  <dc:subject>Local PPTD v2 editable rendering</dc:subject>
  <dc:creator>DSH PPTD</dc:creator>
  <cp:lastModifiedBy>DSH PPTD</cp:lastModifiedBy>
  <cp:revision>1</cp:revision>
  <dcterms:created xsi:type="dcterms:W3CDTF">2026-10-07T13:47:32Z</dcterms:created>
  <dcterms:modified xsi:type="dcterms:W3CDTF">2026-10-07T13:47:32Z</dcterms:modified>
</cp:coreProperties>
</file>